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hZA7uzSsoC65qNxSHZYelenKz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4de14578_3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4de14578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c89978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8c899784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4cc5ba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fa4cc5ba7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a4cc5ba7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fa4cc5ba7a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a4cc5ba7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fa4cc5ba7a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4cc5ba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fa4cc5ba7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a4de1457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a4de1457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0554" y="1575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84375" y="2032824"/>
            <a:ext cx="12192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</a:t>
            </a: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7988" y="5451547"/>
            <a:ext cx="4536010" cy="114478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8825875" y="3560350"/>
            <a:ext cx="2374500" cy="18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Antonio Lankin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Bastian Cárcamo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Carla Morales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Docente: Rocío Contreras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Sección 003D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137160" y="36576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5" name="Google Shape;95;p3"/>
          <p:cNvSpPr txBox="1"/>
          <p:nvPr/>
        </p:nvSpPr>
        <p:spPr>
          <a:xfrm>
            <a:off x="137160" y="777240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137160" y="155448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dato existe y el programa existe. Nadie los ha cruzado.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502920" y="2084831"/>
            <a:ext cx="11185855" cy="1188720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914400" y="2231136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0,09 %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3749039" y="2286000"/>
            <a:ext cx="74368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 la superficie evaluable recibió bonificación en 2021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1.260 hectáreas de 1,39 millones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502920" y="3566160"/>
            <a:ext cx="536432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502920" y="4005072"/>
            <a:ext cx="5364327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El dato llega en formatos que exigen software SIG.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Los geoportales muestran capas; no calculan indicadores.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Lo ambiental y lo administrativo nunca se cruzan.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6324447" y="3566160"/>
            <a:ext cx="536432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324447" y="4005072"/>
            <a:ext cx="5364327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Descarga automática desde cuatro fuentes oficiales.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Calcula la erosión y la cruza con la inversión.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Publica el resultado en un visor y una API.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137160" y="36576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1" name="Google Shape;111;p4"/>
          <p:cNvSpPr txBox="1"/>
          <p:nvPr/>
        </p:nvSpPr>
        <p:spPr>
          <a:xfrm>
            <a:off x="137160" y="777240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Un objetivo general y cinco específicos, en orden de dependencia.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02920" y="2084831"/>
            <a:ext cx="11185855" cy="1060704"/>
          </a:xfrm>
          <a:prstGeom prst="roundRect">
            <a:avLst>
              <a:gd fmla="val 862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886968" y="22128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886968" y="2542032"/>
            <a:ext cx="1041775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Evaluar si la inversión pública en recuperación de suelos llega a las comunas que más la necesitan.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02920" y="3474720"/>
            <a:ext cx="2032345" cy="2624328"/>
          </a:xfrm>
          <a:prstGeom prst="roundRect">
            <a:avLst>
              <a:gd fmla="val 4499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58952" y="3712463"/>
            <a:ext cx="152028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758952" y="4114800"/>
            <a:ext cx="15202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58952" y="4590288"/>
            <a:ext cx="1520281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Base espacial con trazabilidad de cada origen.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791297" y="3474720"/>
            <a:ext cx="2032345" cy="2624328"/>
          </a:xfrm>
          <a:prstGeom prst="roundRect">
            <a:avLst>
              <a:gd fmla="val 4499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047329" y="3712463"/>
            <a:ext cx="152028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3047329" y="4114800"/>
            <a:ext cx="15202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Motor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047329" y="4590288"/>
            <a:ext cx="1520281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Erosión por comuna con RUSLE sobre datos satelitales.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079674" y="3474720"/>
            <a:ext cx="2032345" cy="2624328"/>
          </a:xfrm>
          <a:prstGeom prst="roundRect">
            <a:avLst>
              <a:gd fmla="val 4499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335706" y="3712463"/>
            <a:ext cx="152028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5335706" y="4114800"/>
            <a:ext cx="15202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Cruce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335706" y="4590288"/>
            <a:ext cx="1520281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Ejecución del programa e índice de pertinencia.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368052" y="3474720"/>
            <a:ext cx="2032345" cy="2624328"/>
          </a:xfrm>
          <a:prstGeom prst="roundRect">
            <a:avLst>
              <a:gd fmla="val 4499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7624084" y="3712463"/>
            <a:ext cx="152028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7624084" y="4114800"/>
            <a:ext cx="15202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624084" y="4590288"/>
            <a:ext cx="1520281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Contraste contra CIREN y dominio de validez.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656429" y="3474720"/>
            <a:ext cx="2032345" cy="2624328"/>
          </a:xfrm>
          <a:prstGeom prst="roundRect">
            <a:avLst>
              <a:gd fmla="val 4499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912461" y="3712463"/>
            <a:ext cx="152028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9912461" y="4114800"/>
            <a:ext cx="152028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Publicación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9912461" y="4590288"/>
            <a:ext cx="1520281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Visor, API y documentación reproducible.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137160" y="365760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3" name="Google Shape;143;p5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Alcances y limitaciones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Lo que el sistema hace, y lo que deliberadamente no hace.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02920" y="2084831"/>
            <a:ext cx="5364327" cy="3154680"/>
          </a:xfrm>
          <a:prstGeom prst="roundRect">
            <a:avLst>
              <a:gd fmla="val 2898" name="adj"/>
            </a:avLst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813816" y="2267712"/>
            <a:ext cx="4742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SÍ INCLUYE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813816" y="2670048"/>
            <a:ext cx="4742400" cy="16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O’Higgins, 33 comunas, resolución de 30 m.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Módulo 1 Suelos, con profundidad completa.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Módulos 2 y 3, acotados.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Solo fuentes públicas y gratuitas.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Visor y API en ambiente de prueba.</a:t>
            </a:r>
            <a:endParaRPr sz="1500"/>
          </a:p>
        </p:txBody>
      </p:sp>
      <p:sp>
        <p:nvSpPr>
          <p:cNvPr id="148" name="Google Shape;148;p5"/>
          <p:cNvSpPr/>
          <p:nvPr/>
        </p:nvSpPr>
        <p:spPr>
          <a:xfrm>
            <a:off x="6324447" y="2084831"/>
            <a:ext cx="5364327" cy="3154680"/>
          </a:xfrm>
          <a:prstGeom prst="roundRect">
            <a:avLst>
              <a:gd fmla="val 2898" name="adj"/>
            </a:avLst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635343" y="2267712"/>
            <a:ext cx="4742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INCLUYE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635343" y="2670048"/>
            <a:ext cx="4742400" cy="19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Cobertura nacional: CIREN llega hasta Los Lagos.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LiDAR, submétrico ni trabajo de campo.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Modelo hidrodinámico de crecidas.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Análisis predial ni datos personales.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Serie histórica: hay un solo año.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s-CL" sz="14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·  Puesta en producción institucional.</a:t>
            </a:r>
            <a:endParaRPr sz="1500"/>
          </a:p>
        </p:txBody>
      </p:sp>
      <p:sp>
        <p:nvSpPr>
          <p:cNvPr id="151" name="Google Shape;151;p5"/>
          <p:cNvSpPr/>
          <p:nvPr/>
        </p:nvSpPr>
        <p:spPr>
          <a:xfrm>
            <a:off x="502920" y="5513832"/>
            <a:ext cx="11185855" cy="960120"/>
          </a:xfrm>
          <a:prstGeom prst="roundRect">
            <a:avLst>
              <a:gd fmla="val 9523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14400" y="5641848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27 de 33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3337560" y="5715000"/>
            <a:ext cx="78940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comunas dentro del dominio de validez. En las 6 precordilleranas el modelo sobreestima y quedan marcadas.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4de14578_3_5"/>
          <p:cNvSpPr txBox="1"/>
          <p:nvPr/>
        </p:nvSpPr>
        <p:spPr>
          <a:xfrm>
            <a:off x="137155" y="735050"/>
            <a:ext cx="51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latin typeface="Calibri"/>
                <a:ea typeface="Calibri"/>
                <a:cs typeface="Calibri"/>
                <a:sym typeface="Calibri"/>
              </a:rPr>
              <a:t>Pilotaje: Nuestro cliente</a:t>
            </a:r>
            <a:endParaRPr/>
          </a:p>
        </p:txBody>
      </p:sp>
      <p:sp>
        <p:nvSpPr>
          <p:cNvPr id="159" name="Google Shape;159;g3fa4de14578_3_5"/>
          <p:cNvSpPr txBox="1"/>
          <p:nvPr/>
        </p:nvSpPr>
        <p:spPr>
          <a:xfrm>
            <a:off x="137160" y="36576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scuelaIT Duoc UC - Escuela de Informática y Telecomunicaciones Duoc UC - Duoc  UC | LinkedIn" id="160" name="Google Shape;160;g3fa4de14578_3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a4de14578_3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000" y="2035316"/>
            <a:ext cx="2691381" cy="269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fa4de14578_3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4213" y="1685775"/>
            <a:ext cx="4815786" cy="31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a4de14578_3_5"/>
          <p:cNvSpPr txBox="1"/>
          <p:nvPr/>
        </p:nvSpPr>
        <p:spPr>
          <a:xfrm>
            <a:off x="3413845" y="5294722"/>
            <a:ext cx="53643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CL" sz="175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Estamos trabajando junto al departamento de datos de INDAP para realizar el pilotaje.</a:t>
            </a:r>
            <a:endParaRPr sz="175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g3f8c899784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8c8997848_0_1"/>
          <p:cNvSpPr txBox="1"/>
          <p:nvPr/>
        </p:nvSpPr>
        <p:spPr>
          <a:xfrm>
            <a:off x="10" y="8856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g3f8c899784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1" name="Google Shape;171;g3f8c8997848_0_1"/>
          <p:cNvSpPr txBox="1"/>
          <p:nvPr/>
        </p:nvSpPr>
        <p:spPr>
          <a:xfrm>
            <a:off x="3291755" y="-1"/>
            <a:ext cx="56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Casos de uso — consulta y análisis</a:t>
            </a:r>
            <a:endParaRPr sz="800"/>
          </a:p>
        </p:txBody>
      </p:sp>
      <p:pic>
        <p:nvPicPr>
          <p:cNvPr descr="image.png" id="172" name="Google Shape;172;g3f8c8997848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0950" y="369300"/>
            <a:ext cx="7030101" cy="655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g3fa4cc5ba7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a4cc5ba7a_0_7"/>
          <p:cNvSpPr txBox="1"/>
          <p:nvPr/>
        </p:nvSpPr>
        <p:spPr>
          <a:xfrm>
            <a:off x="10" y="1546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g3fa4cc5ba7a_0_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0" name="Google Shape;180;g3fa4cc5ba7a_0_7"/>
          <p:cNvSpPr txBox="1"/>
          <p:nvPr/>
        </p:nvSpPr>
        <p:spPr>
          <a:xfrm>
            <a:off x="3174305" y="0"/>
            <a:ext cx="58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Casos de uso — administración del núcleo</a:t>
            </a:r>
            <a:endParaRPr sz="2600"/>
          </a:p>
        </p:txBody>
      </p:sp>
      <p:pic>
        <p:nvPicPr>
          <p:cNvPr descr="image.png" id="181" name="Google Shape;181;g3fa4cc5ba7a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8263" y="483025"/>
            <a:ext cx="9395479" cy="63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137160" y="365760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9" name="Google Shape;189;p6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365850" y="1458051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CRISP-DM ordena el ciclo del dato y Scrum la gestión del equipo. </a:t>
            </a:r>
            <a:endParaRPr/>
          </a:p>
        </p:txBody>
      </p:sp>
      <p:pic>
        <p:nvPicPr>
          <p:cNvPr descr="image.png" id="191" name="Google Shape;1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850" y="1882375"/>
            <a:ext cx="11460301" cy="269600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502920" y="4690872"/>
            <a:ext cx="3533546" cy="1755648"/>
          </a:xfrm>
          <a:prstGeom prst="roundRect">
            <a:avLst>
              <a:gd fmla="val 520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777240" y="4873752"/>
            <a:ext cx="29849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777240" y="5239512"/>
            <a:ext cx="298490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Carla Morales, Product Owner y enlace institucional. Bastián Cárcamo, Scrum Master. Los tres integrantes ejecutan el sprint.</a:t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329074" y="4690872"/>
            <a:ext cx="3533546" cy="1755648"/>
          </a:xfrm>
          <a:prstGeom prst="roundRect">
            <a:avLst>
              <a:gd fmla="val 520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603394" y="4873752"/>
            <a:ext cx="29849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CADENCIA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4603394" y="5239512"/>
            <a:ext cx="298490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Sprints de tres semanas, con planificación, refinamiento, revisión y retrospectiva. El incremento se demuestra a la docente guía.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8155228" y="4690872"/>
            <a:ext cx="3533546" cy="1755648"/>
          </a:xfrm>
          <a:prstGeom prst="roundRect">
            <a:avLst>
              <a:gd fmla="val 520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8429548" y="4873752"/>
            <a:ext cx="298490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ADAPTACIONES DECLARADAS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8429548" y="5239512"/>
            <a:ext cx="298490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Sincronización tres veces por semana, no diaria. Product Owner interno al equipo. Se declaran; no se disimulan.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205" name="Google Shape;2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2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7" name="Google Shape;207;p2"/>
          <p:cNvSpPr txBox="1"/>
          <p:nvPr/>
        </p:nvSpPr>
        <p:spPr>
          <a:xfrm>
            <a:off x="137160" y="3657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/>
          </a:p>
        </p:txBody>
      </p:sp>
      <p:sp>
        <p:nvSpPr>
          <p:cNvPr id="208" name="Google Shape;208;p2"/>
          <p:cNvSpPr txBox="1"/>
          <p:nvPr/>
        </p:nvSpPr>
        <p:spPr>
          <a:xfrm>
            <a:off x="137160" y="777240"/>
            <a:ext cx="112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ágil </a:t>
            </a:r>
            <a:r>
              <a:rPr lang="es-CL" sz="30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backlog y sprints</a:t>
            </a:r>
            <a:endParaRPr/>
          </a:p>
        </p:txBody>
      </p:sp>
      <p:sp>
        <p:nvSpPr>
          <p:cNvPr id="209" name="Google Shape;209;p2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trabajo se descompuso en historias verificables, estimadas en puntos de Fibonacci y priorizadas con MoSCoW.</a:t>
            </a:r>
            <a:endParaRPr/>
          </a:p>
        </p:txBody>
      </p:sp>
      <p:sp>
        <p:nvSpPr>
          <p:cNvPr id="210" name="Google Shape;210;p2"/>
          <p:cNvSpPr/>
          <p:nvPr/>
        </p:nvSpPr>
        <p:spPr>
          <a:xfrm>
            <a:off x="502920" y="2084831"/>
            <a:ext cx="2577007" cy="1298448"/>
          </a:xfrm>
          <a:prstGeom prst="roundRect">
            <a:avLst>
              <a:gd fmla="val 704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/>
          <p:nvPr/>
        </p:nvSpPr>
        <p:spPr>
          <a:xfrm>
            <a:off x="777240" y="2231136"/>
            <a:ext cx="202836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777240" y="2889503"/>
            <a:ext cx="2028367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/>
          </a:p>
        </p:txBody>
      </p:sp>
      <p:sp>
        <p:nvSpPr>
          <p:cNvPr id="213" name="Google Shape;213;p2"/>
          <p:cNvSpPr/>
          <p:nvPr/>
        </p:nvSpPr>
        <p:spPr>
          <a:xfrm>
            <a:off x="3372535" y="2084831"/>
            <a:ext cx="2577007" cy="1298448"/>
          </a:xfrm>
          <a:prstGeom prst="roundRect">
            <a:avLst>
              <a:gd fmla="val 704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 txBox="1"/>
          <p:nvPr/>
        </p:nvSpPr>
        <p:spPr>
          <a:xfrm>
            <a:off x="3646855" y="2231136"/>
            <a:ext cx="202836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/>
          </a:p>
        </p:txBody>
      </p:sp>
      <p:sp>
        <p:nvSpPr>
          <p:cNvPr id="215" name="Google Shape;215;p2"/>
          <p:cNvSpPr txBox="1"/>
          <p:nvPr/>
        </p:nvSpPr>
        <p:spPr>
          <a:xfrm>
            <a:off x="3646855" y="2889503"/>
            <a:ext cx="2028367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puntos de historia</a:t>
            </a:r>
            <a:endParaRPr/>
          </a:p>
        </p:txBody>
      </p:sp>
      <p:sp>
        <p:nvSpPr>
          <p:cNvPr id="216" name="Google Shape;216;p2"/>
          <p:cNvSpPr/>
          <p:nvPr/>
        </p:nvSpPr>
        <p:spPr>
          <a:xfrm>
            <a:off x="6242151" y="2084831"/>
            <a:ext cx="2577007" cy="1298448"/>
          </a:xfrm>
          <a:prstGeom prst="roundRect">
            <a:avLst>
              <a:gd fmla="val 704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"/>
          <p:cNvSpPr txBox="1"/>
          <p:nvPr/>
        </p:nvSpPr>
        <p:spPr>
          <a:xfrm>
            <a:off x="6516471" y="2231136"/>
            <a:ext cx="202836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8" name="Google Shape;218;p2"/>
          <p:cNvSpPr txBox="1"/>
          <p:nvPr/>
        </p:nvSpPr>
        <p:spPr>
          <a:xfrm>
            <a:off x="6516471" y="2889503"/>
            <a:ext cx="2028367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épicas demostrables</a:t>
            </a:r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9111767" y="2084831"/>
            <a:ext cx="2577007" cy="1298448"/>
          </a:xfrm>
          <a:prstGeom prst="roundRect">
            <a:avLst>
              <a:gd fmla="val 704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9386087" y="2231136"/>
            <a:ext cx="2028367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1" name="Google Shape;221;p2"/>
          <p:cNvSpPr txBox="1"/>
          <p:nvPr/>
        </p:nvSpPr>
        <p:spPr>
          <a:xfrm>
            <a:off x="9386087" y="2889503"/>
            <a:ext cx="2028367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sprints de tres semanas</a:t>
            </a:r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685800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Sprint 0</a:t>
            </a:r>
            <a:endParaRPr/>
          </a:p>
        </p:txBody>
      </p:sp>
      <p:sp>
        <p:nvSpPr>
          <p:cNvPr id="223" name="Google Shape;223;p2"/>
          <p:cNvSpPr txBox="1"/>
          <p:nvPr/>
        </p:nvSpPr>
        <p:spPr>
          <a:xfrm>
            <a:off x="685800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1–3</a:t>
            </a:r>
            <a:endParaRPr/>
          </a:p>
        </p:txBody>
      </p:sp>
      <p:sp>
        <p:nvSpPr>
          <p:cNvPr id="224" name="Google Shape;224;p2"/>
          <p:cNvSpPr txBox="1"/>
          <p:nvPr/>
        </p:nvSpPr>
        <p:spPr>
          <a:xfrm>
            <a:off x="685800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26 pts</a:t>
            </a:r>
            <a:endParaRPr/>
          </a:p>
        </p:txBody>
      </p:sp>
      <p:sp>
        <p:nvSpPr>
          <p:cNvPr id="225" name="Google Shape;225;p2"/>
          <p:cNvSpPr txBox="1"/>
          <p:nvPr/>
        </p:nvSpPr>
        <p:spPr>
          <a:xfrm>
            <a:off x="685800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/>
          </a:p>
        </p:txBody>
      </p:sp>
      <p:sp>
        <p:nvSpPr>
          <p:cNvPr id="226" name="Google Shape;226;p2"/>
          <p:cNvSpPr txBox="1"/>
          <p:nvPr/>
        </p:nvSpPr>
        <p:spPr>
          <a:xfrm>
            <a:off x="2577541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/>
          </a:p>
        </p:txBody>
      </p:sp>
      <p:sp>
        <p:nvSpPr>
          <p:cNvPr id="227" name="Google Shape;227;p2"/>
          <p:cNvSpPr txBox="1"/>
          <p:nvPr/>
        </p:nvSpPr>
        <p:spPr>
          <a:xfrm>
            <a:off x="2577541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4–6</a:t>
            </a:r>
            <a:endParaRPr/>
          </a:p>
        </p:txBody>
      </p:sp>
      <p:sp>
        <p:nvSpPr>
          <p:cNvPr id="228" name="Google Shape;228;p2"/>
          <p:cNvSpPr txBox="1"/>
          <p:nvPr/>
        </p:nvSpPr>
        <p:spPr>
          <a:xfrm>
            <a:off x="2577541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73 pts</a:t>
            </a:r>
            <a:endParaRPr/>
          </a:p>
        </p:txBody>
      </p:sp>
      <p:sp>
        <p:nvSpPr>
          <p:cNvPr id="229" name="Google Shape;229;p2"/>
          <p:cNvSpPr txBox="1"/>
          <p:nvPr/>
        </p:nvSpPr>
        <p:spPr>
          <a:xfrm>
            <a:off x="2577541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/>
          </a:p>
        </p:txBody>
      </p:sp>
      <p:sp>
        <p:nvSpPr>
          <p:cNvPr id="230" name="Google Shape;230;p2"/>
          <p:cNvSpPr/>
          <p:nvPr/>
        </p:nvSpPr>
        <p:spPr>
          <a:xfrm>
            <a:off x="4286402" y="3685031"/>
            <a:ext cx="1727149" cy="1572768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"/>
          <p:cNvSpPr txBox="1"/>
          <p:nvPr/>
        </p:nvSpPr>
        <p:spPr>
          <a:xfrm>
            <a:off x="4469282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/>
          </a:p>
        </p:txBody>
      </p:sp>
      <p:sp>
        <p:nvSpPr>
          <p:cNvPr id="232" name="Google Shape;232;p2"/>
          <p:cNvSpPr txBox="1"/>
          <p:nvPr/>
        </p:nvSpPr>
        <p:spPr>
          <a:xfrm>
            <a:off x="4469282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7–9</a:t>
            </a:r>
            <a:endParaRPr/>
          </a:p>
        </p:txBody>
      </p:sp>
      <p:sp>
        <p:nvSpPr>
          <p:cNvPr id="233" name="Google Shape;233;p2"/>
          <p:cNvSpPr txBox="1"/>
          <p:nvPr/>
        </p:nvSpPr>
        <p:spPr>
          <a:xfrm>
            <a:off x="4469282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23 pts</a:t>
            </a:r>
            <a:endParaRPr/>
          </a:p>
        </p:txBody>
      </p:sp>
      <p:sp>
        <p:nvSpPr>
          <p:cNvPr id="234" name="Google Shape;234;p2"/>
          <p:cNvSpPr txBox="1"/>
          <p:nvPr/>
        </p:nvSpPr>
        <p:spPr>
          <a:xfrm>
            <a:off x="4469282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sp>
        <p:nvSpPr>
          <p:cNvPr id="235" name="Google Shape;235;p2"/>
          <p:cNvSpPr/>
          <p:nvPr/>
        </p:nvSpPr>
        <p:spPr>
          <a:xfrm>
            <a:off x="6178143" y="3685031"/>
            <a:ext cx="1727149" cy="1572768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 txBox="1"/>
          <p:nvPr/>
        </p:nvSpPr>
        <p:spPr>
          <a:xfrm>
            <a:off x="6361023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/>
          </a:p>
        </p:txBody>
      </p:sp>
      <p:sp>
        <p:nvSpPr>
          <p:cNvPr id="237" name="Google Shape;237;p2"/>
          <p:cNvSpPr txBox="1"/>
          <p:nvPr/>
        </p:nvSpPr>
        <p:spPr>
          <a:xfrm>
            <a:off x="6361023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10–12</a:t>
            </a:r>
            <a:endParaRPr/>
          </a:p>
        </p:txBody>
      </p:sp>
      <p:sp>
        <p:nvSpPr>
          <p:cNvPr id="238" name="Google Shape;238;p2"/>
          <p:cNvSpPr txBox="1"/>
          <p:nvPr/>
        </p:nvSpPr>
        <p:spPr>
          <a:xfrm>
            <a:off x="6361023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18 pts</a:t>
            </a:r>
            <a:endParaRPr/>
          </a:p>
        </p:txBody>
      </p:sp>
      <p:sp>
        <p:nvSpPr>
          <p:cNvPr id="239" name="Google Shape;239;p2"/>
          <p:cNvSpPr txBox="1"/>
          <p:nvPr/>
        </p:nvSpPr>
        <p:spPr>
          <a:xfrm>
            <a:off x="6361023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sp>
        <p:nvSpPr>
          <p:cNvPr id="240" name="Google Shape;240;p2"/>
          <p:cNvSpPr/>
          <p:nvPr/>
        </p:nvSpPr>
        <p:spPr>
          <a:xfrm>
            <a:off x="8069884" y="3685031"/>
            <a:ext cx="1727149" cy="1572768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8252764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/>
          </a:p>
        </p:txBody>
      </p:sp>
      <p:sp>
        <p:nvSpPr>
          <p:cNvPr id="242" name="Google Shape;242;p2"/>
          <p:cNvSpPr txBox="1"/>
          <p:nvPr/>
        </p:nvSpPr>
        <p:spPr>
          <a:xfrm>
            <a:off x="8252764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13–15</a:t>
            </a:r>
            <a:endParaRPr/>
          </a:p>
        </p:txBody>
      </p:sp>
      <p:sp>
        <p:nvSpPr>
          <p:cNvPr id="243" name="Google Shape;243;p2"/>
          <p:cNvSpPr txBox="1"/>
          <p:nvPr/>
        </p:nvSpPr>
        <p:spPr>
          <a:xfrm>
            <a:off x="8252764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24 pts</a:t>
            </a:r>
            <a:endParaRPr/>
          </a:p>
        </p:txBody>
      </p:sp>
      <p:sp>
        <p:nvSpPr>
          <p:cNvPr id="244" name="Google Shape;244;p2"/>
          <p:cNvSpPr txBox="1"/>
          <p:nvPr/>
        </p:nvSpPr>
        <p:spPr>
          <a:xfrm>
            <a:off x="8252764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Planificado</a:t>
            </a:r>
            <a:endParaRPr/>
          </a:p>
        </p:txBody>
      </p:sp>
      <p:sp>
        <p:nvSpPr>
          <p:cNvPr id="245" name="Google Shape;245;p2"/>
          <p:cNvSpPr/>
          <p:nvPr/>
        </p:nvSpPr>
        <p:spPr>
          <a:xfrm>
            <a:off x="9961626" y="3685031"/>
            <a:ext cx="1727149" cy="1572768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10144506" y="3831335"/>
            <a:ext cx="13613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/>
          </a:p>
        </p:txBody>
      </p:sp>
      <p:sp>
        <p:nvSpPr>
          <p:cNvPr id="247" name="Google Shape;247;p2"/>
          <p:cNvSpPr txBox="1"/>
          <p:nvPr/>
        </p:nvSpPr>
        <p:spPr>
          <a:xfrm>
            <a:off x="10144506" y="4142231"/>
            <a:ext cx="136138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Sem. 16</a:t>
            </a:r>
            <a:endParaRPr/>
          </a:p>
        </p:txBody>
      </p:sp>
      <p:sp>
        <p:nvSpPr>
          <p:cNvPr id="248" name="Google Shape;248;p2"/>
          <p:cNvSpPr txBox="1"/>
          <p:nvPr/>
        </p:nvSpPr>
        <p:spPr>
          <a:xfrm>
            <a:off x="10144506" y="4434840"/>
            <a:ext cx="136138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249" name="Google Shape;249;p2"/>
          <p:cNvSpPr txBox="1"/>
          <p:nvPr/>
        </p:nvSpPr>
        <p:spPr>
          <a:xfrm>
            <a:off x="10144506" y="4837175"/>
            <a:ext cx="136138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Informe y defensa</a:t>
            </a:r>
            <a:endParaRPr/>
          </a:p>
        </p:txBody>
      </p:sp>
      <p:sp>
        <p:nvSpPr>
          <p:cNvPr id="250" name="Google Shape;250;p2"/>
          <p:cNvSpPr txBox="1"/>
          <p:nvPr/>
        </p:nvSpPr>
        <p:spPr>
          <a:xfrm>
            <a:off x="137160" y="6327648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164 de los 180 puntos están comprometidos. Los 16 restantes son el modelado predictivo, clasificado como Could y declarado fuera del compromiso desde el inicio.</a:t>
            </a:r>
            <a:endParaRPr/>
          </a:p>
        </p:txBody>
      </p:sp>
      <p:sp>
        <p:nvSpPr>
          <p:cNvPr id="251" name="Google Shape;251;p2"/>
          <p:cNvSpPr/>
          <p:nvPr/>
        </p:nvSpPr>
        <p:spPr>
          <a:xfrm>
            <a:off x="2394689" y="3684893"/>
            <a:ext cx="1727100" cy="1572900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"/>
          <p:cNvSpPr/>
          <p:nvPr/>
        </p:nvSpPr>
        <p:spPr>
          <a:xfrm>
            <a:off x="347527" y="3684968"/>
            <a:ext cx="1727100" cy="1572900"/>
          </a:xfrm>
          <a:prstGeom prst="roundRect">
            <a:avLst>
              <a:gd fmla="val 5813" name="adj"/>
            </a:avLst>
          </a:prstGeom>
          <a:noFill/>
          <a:ln cap="flat" cmpd="sng" w="15875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2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12"/>
          <p:cNvSpPr txBox="1"/>
          <p:nvPr/>
        </p:nvSpPr>
        <p:spPr>
          <a:xfrm>
            <a:off x="137160" y="3657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Avance verificado</a:t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estado no se estimó: se comprobó historia por historia contra el repositorio, revisando qué módulo la implementa.</a:t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7717353" y="2130551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60 %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7717353" y="2935223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del alcance comprometido: 99 de 164 puntos</a:t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7717353" y="3428999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7717353" y="4233672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historias terminadas, 1 en curso, 11 pendientes</a:t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7717353" y="4727448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~50</a:t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7717353" y="5532120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puntos por sprint observados, sobre 25 estimados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137160" y="6327648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núcleo de procesamiento y el módulo de erosión y pertinencia están cerrados, junto con la parte del visor que los muestra. Lo que resta son los módulos complementarios, que son justamente los recortables.</a:t>
            </a:r>
            <a:endParaRPr/>
          </a:p>
        </p:txBody>
      </p:sp>
      <p:pic>
        <p:nvPicPr>
          <p:cNvPr id="269" name="Google Shape;269;p12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066550"/>
            <a:ext cx="7380025" cy="3874226"/>
          </a:xfrm>
          <a:prstGeom prst="rect">
            <a:avLst/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137160" y="365760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7" name="Google Shape;277;p7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Cronograma del proyecto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164410" y="139348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resultado central queda resuelto antes de la semana 15. Los módulos complementarios son lo que se recorta si el calendario aprieta.</a:t>
            </a:r>
            <a:endParaRPr/>
          </a:p>
        </p:txBody>
      </p:sp>
      <p:pic>
        <p:nvPicPr>
          <p:cNvPr id="279" name="Google Shape;27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0" y="1814662"/>
            <a:ext cx="12027599" cy="488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8"/>
          <p:cNvSpPr txBox="1"/>
          <p:nvPr/>
        </p:nvSpPr>
        <p:spPr>
          <a:xfrm>
            <a:off x="137160" y="365760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7" name="Google Shape;287;p8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137160" y="134958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Un núcleo común y tres módulos temáticos. La ingesta, la normalización y el almacenamiento se construyen una vez y sirven para los tres.</a:t>
            </a:r>
            <a:endParaRPr/>
          </a:p>
        </p:txBody>
      </p:sp>
      <p:pic>
        <p:nvPicPr>
          <p:cNvPr descr="image.png"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825" y="1746287"/>
            <a:ext cx="11902351" cy="4963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4" name="Google Shape;294;g3fa4cc5ba7a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fa4cc5ba7a_0_39"/>
          <p:cNvSpPr txBox="1"/>
          <p:nvPr/>
        </p:nvSpPr>
        <p:spPr>
          <a:xfrm>
            <a:off x="137160" y="36576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g3fa4cc5ba7a_0_3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97" name="Google Shape;297;g3fa4cc5ba7a_0_39"/>
          <p:cNvSpPr txBox="1"/>
          <p:nvPr/>
        </p:nvSpPr>
        <p:spPr>
          <a:xfrm>
            <a:off x="594510" y="234465"/>
            <a:ext cx="112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/>
          </a:p>
        </p:txBody>
      </p:sp>
      <p:pic>
        <p:nvPicPr>
          <p:cNvPr descr="image.png" id="298" name="Google Shape;298;g3fa4cc5ba7a_0_39"/>
          <p:cNvPicPr preferRelativeResize="0"/>
          <p:nvPr/>
        </p:nvPicPr>
        <p:blipFill rotWithShape="1">
          <a:blip r:embed="rId4">
            <a:alphaModFix/>
          </a:blip>
          <a:srcRect b="4651" l="0" r="0" t="2876"/>
          <a:stretch/>
        </p:blipFill>
        <p:spPr>
          <a:xfrm>
            <a:off x="137150" y="696175"/>
            <a:ext cx="7442899" cy="6153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a4cc5ba7a_0_39"/>
          <p:cNvSpPr txBox="1"/>
          <p:nvPr/>
        </p:nvSpPr>
        <p:spPr>
          <a:xfrm>
            <a:off x="7580051" y="1381025"/>
            <a:ext cx="4085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Cada carga queda registrada: qué fuente, cuándo, con qué resultado. La cadencia vive en la base, no en el código.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4" name="Google Shape;3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 txBox="1"/>
          <p:nvPr/>
        </p:nvSpPr>
        <p:spPr>
          <a:xfrm>
            <a:off x="137160" y="36576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07" name="Google Shape;307;p9"/>
          <p:cNvSpPr txBox="1"/>
          <p:nvPr/>
        </p:nvSpPr>
        <p:spPr>
          <a:xfrm>
            <a:off x="137160" y="777240"/>
            <a:ext cx="112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/>
          </a:p>
        </p:txBody>
      </p:sp>
      <p:pic>
        <p:nvPicPr>
          <p:cNvPr descr="image.png" id="308" name="Google Shape;3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75" y="1327950"/>
            <a:ext cx="9028151" cy="54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9050700" y="1874525"/>
            <a:ext cx="314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5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La ejecución del programa guarda superficie, monto y beneficiarios, y declara la precisión del dato. Lo que no se puede identificar va a una tabla de rechazos</a:t>
            </a:r>
            <a:r>
              <a:rPr lang="es-CL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14" name="Google Shape;314;g3fa4cc5ba7a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a4cc5ba7a_0_52"/>
          <p:cNvSpPr txBox="1"/>
          <p:nvPr/>
        </p:nvSpPr>
        <p:spPr>
          <a:xfrm>
            <a:off x="137160" y="11153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g3fa4cc5ba7a_0_5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7" name="Google Shape;317;g3fa4cc5ba7a_0_52"/>
          <p:cNvSpPr txBox="1"/>
          <p:nvPr/>
        </p:nvSpPr>
        <p:spPr>
          <a:xfrm>
            <a:off x="137160" y="527165"/>
            <a:ext cx="112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/>
          </a:p>
        </p:txBody>
      </p:sp>
      <p:pic>
        <p:nvPicPr>
          <p:cNvPr descr="image.png" id="318" name="Google Shape;318;g3fa4cc5ba7a_0_52"/>
          <p:cNvPicPr preferRelativeResize="0"/>
          <p:nvPr/>
        </p:nvPicPr>
        <p:blipFill rotWithShape="1">
          <a:blip r:embed="rId4">
            <a:alphaModFix/>
          </a:blip>
          <a:srcRect b="0" l="1855" r="0" t="0"/>
          <a:stretch/>
        </p:blipFill>
        <p:spPr>
          <a:xfrm>
            <a:off x="-72300" y="1407450"/>
            <a:ext cx="7275700" cy="5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a4cc5ba7a_0_52"/>
          <p:cNvSpPr txBox="1"/>
          <p:nvPr/>
        </p:nvSpPr>
        <p:spPr>
          <a:xfrm>
            <a:off x="7744538" y="4646644"/>
            <a:ext cx="372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320" name="Google Shape;320;g3fa4cc5ba7a_0_52"/>
          <p:cNvPicPr preferRelativeResize="0"/>
          <p:nvPr/>
        </p:nvPicPr>
        <p:blipFill rotWithShape="1">
          <a:blip r:embed="rId5">
            <a:alphaModFix/>
          </a:blip>
          <a:srcRect b="0" l="0" r="0" t="6200"/>
          <a:stretch/>
        </p:blipFill>
        <p:spPr>
          <a:xfrm>
            <a:off x="6720925" y="944958"/>
            <a:ext cx="5608224" cy="2557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25" name="Google Shape;3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4202" y="-69425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 txBox="1"/>
          <p:nvPr/>
        </p:nvSpPr>
        <p:spPr>
          <a:xfrm>
            <a:off x="137160" y="9428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28" name="Google Shape;328;p10"/>
          <p:cNvSpPr txBox="1"/>
          <p:nvPr/>
        </p:nvSpPr>
        <p:spPr>
          <a:xfrm>
            <a:off x="3559956" y="-2"/>
            <a:ext cx="507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de ingesta y cálculo</a:t>
            </a:r>
            <a:endParaRPr sz="2600"/>
          </a:p>
        </p:txBody>
      </p:sp>
      <p:pic>
        <p:nvPicPr>
          <p:cNvPr descr="image.png" id="329" name="Google Shape;329;p10"/>
          <p:cNvPicPr preferRelativeResize="0"/>
          <p:nvPr/>
        </p:nvPicPr>
        <p:blipFill rotWithShape="1">
          <a:blip r:embed="rId4">
            <a:alphaModFix/>
          </a:blip>
          <a:srcRect b="2214" l="0" r="0" t="1512"/>
          <a:stretch/>
        </p:blipFill>
        <p:spPr>
          <a:xfrm>
            <a:off x="888487" y="400200"/>
            <a:ext cx="10415036" cy="639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34" name="Google Shape;334;g3fa4cc5ba7a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fa4cc5ba7a_0_24"/>
          <p:cNvSpPr txBox="1"/>
          <p:nvPr/>
        </p:nvSpPr>
        <p:spPr>
          <a:xfrm>
            <a:off x="137160" y="36576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g3fa4cc5ba7a_0_2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37" name="Google Shape;337;g3fa4cc5ba7a_0_24"/>
          <p:cNvSpPr txBox="1"/>
          <p:nvPr/>
        </p:nvSpPr>
        <p:spPr>
          <a:xfrm>
            <a:off x="257685" y="207540"/>
            <a:ext cx="112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de consulta</a:t>
            </a:r>
            <a:endParaRPr sz="2600"/>
          </a:p>
        </p:txBody>
      </p:sp>
      <p:sp>
        <p:nvSpPr>
          <p:cNvPr id="338" name="Google Shape;338;g3fa4cc5ba7a_0_24"/>
          <p:cNvSpPr txBox="1"/>
          <p:nvPr/>
        </p:nvSpPr>
        <p:spPr>
          <a:xfrm>
            <a:off x="868860" y="650330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Lo que ocurre entre el clic del usuario y el dato en pantalla.</a:t>
            </a:r>
            <a:endParaRPr/>
          </a:p>
        </p:txBody>
      </p:sp>
      <p:pic>
        <p:nvPicPr>
          <p:cNvPr descr="image.png" id="339" name="Google Shape;339;g3fa4cc5ba7a_0_24"/>
          <p:cNvPicPr preferRelativeResize="0"/>
          <p:nvPr/>
        </p:nvPicPr>
        <p:blipFill rotWithShape="1">
          <a:blip r:embed="rId4">
            <a:alphaModFix/>
          </a:blip>
          <a:srcRect b="2430" l="0" r="0" t="0"/>
          <a:stretch/>
        </p:blipFill>
        <p:spPr>
          <a:xfrm>
            <a:off x="618987" y="908300"/>
            <a:ext cx="10954024" cy="590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344" name="Google Shape;3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1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2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6" name="Google Shape;346;p13"/>
          <p:cNvSpPr txBox="1"/>
          <p:nvPr/>
        </p:nvSpPr>
        <p:spPr>
          <a:xfrm>
            <a:off x="137160" y="3657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137160" y="777240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r>
              <a:rPr lang="es-CL" sz="32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erosión estimada</a:t>
            </a:r>
            <a:endParaRPr/>
          </a:p>
        </p:txBody>
      </p:sp>
      <p:sp>
        <p:nvSpPr>
          <p:cNvPr id="348" name="Google Shape;348;p13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Los cinco factores de RUSLE calculados con datos medidos para las 33 comunas de la región.</a:t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502920" y="2084831"/>
            <a:ext cx="6711513" cy="3739896"/>
          </a:xfrm>
          <a:prstGeom prst="roundRect">
            <a:avLst>
              <a:gd fmla="val 2444" name="adj"/>
            </a:avLst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777240" y="3479292"/>
            <a:ext cx="6162873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C3052"/>
                </a:solidFill>
                <a:latin typeface="Calibri"/>
                <a:ea typeface="Calibri"/>
                <a:cs typeface="Calibri"/>
                <a:sym typeface="Calibri"/>
              </a:rPr>
              <a:t>▭  Mapa de erosión por comuna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Captura del visor con la capa de erosión activa · mínimo 1600 px de ancho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7717353" y="2130551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352" name="Google Shape;352;p13"/>
          <p:cNvSpPr txBox="1"/>
          <p:nvPr/>
        </p:nvSpPr>
        <p:spPr>
          <a:xfrm>
            <a:off x="7717353" y="2935223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comunas con los cinco factores calculados</a:t>
            </a:r>
            <a:endParaRPr/>
          </a:p>
        </p:txBody>
      </p:sp>
      <p:sp>
        <p:nvSpPr>
          <p:cNvPr id="353" name="Google Shape;353;p13"/>
          <p:cNvSpPr txBox="1"/>
          <p:nvPr/>
        </p:nvSpPr>
        <p:spPr>
          <a:xfrm>
            <a:off x="7717353" y="3428999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261</a:t>
            </a:r>
            <a:endParaRPr/>
          </a:p>
        </p:txBody>
      </p:sp>
      <p:sp>
        <p:nvSpPr>
          <p:cNvPr id="354" name="Google Shape;354;p13"/>
          <p:cNvSpPr txBox="1"/>
          <p:nvPr/>
        </p:nvSpPr>
        <p:spPr>
          <a:xfrm>
            <a:off x="7717353" y="4233672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valores de factor almacenados en la base</a:t>
            </a:r>
            <a:endParaRPr/>
          </a:p>
        </p:txBody>
      </p:sp>
      <p:sp>
        <p:nvSpPr>
          <p:cNvPr id="355" name="Google Shape;355;p13"/>
          <p:cNvSpPr txBox="1"/>
          <p:nvPr/>
        </p:nvSpPr>
        <p:spPr>
          <a:xfrm>
            <a:off x="7717353" y="4727448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14.317</a:t>
            </a:r>
            <a:endParaRPr/>
          </a:p>
        </p:txBody>
      </p:sp>
      <p:sp>
        <p:nvSpPr>
          <p:cNvPr id="356" name="Google Shape;356;p13"/>
          <p:cNvSpPr txBox="1"/>
          <p:nvPr/>
        </p:nvSpPr>
        <p:spPr>
          <a:xfrm>
            <a:off x="7717353" y="5532120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polígonos del inventario de CIREN cargados</a:t>
            </a:r>
            <a:endParaRPr/>
          </a:p>
        </p:txBody>
      </p:sp>
      <p:sp>
        <p:nvSpPr>
          <p:cNvPr id="357" name="Google Shape;357;p13"/>
          <p:cNvSpPr txBox="1"/>
          <p:nvPr/>
        </p:nvSpPr>
        <p:spPr>
          <a:xfrm>
            <a:off x="137160" y="6327648"/>
            <a:ext cx="1072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412" y="2038675"/>
            <a:ext cx="6844550" cy="384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363" name="Google Shape;3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2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5" name="Google Shape;365;p14"/>
          <p:cNvSpPr txBox="1"/>
          <p:nvPr/>
        </p:nvSpPr>
        <p:spPr>
          <a:xfrm>
            <a:off x="137160" y="3657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137160" y="777240"/>
            <a:ext cx="112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r>
              <a:rPr lang="es-CL" sz="3200"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índice de pertinencia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La brecha entre la necesidad medida y la inversión recibida, comuna por comuna.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502920" y="2084831"/>
            <a:ext cx="6711513" cy="3739896"/>
          </a:xfrm>
          <a:prstGeom prst="roundRect">
            <a:avLst>
              <a:gd fmla="val 2444" name="adj"/>
            </a:avLst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777240" y="3479292"/>
            <a:ext cx="6162873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C3052"/>
                </a:solidFill>
                <a:latin typeface="Calibri"/>
                <a:ea typeface="Calibri"/>
                <a:cs typeface="Calibri"/>
                <a:sym typeface="Calibri"/>
              </a:rPr>
              <a:t>▭  Dispersión de necesidad frente a inversión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Gráfico con los cuadrantes de interpretación, o el ranking comunal · mínimo 1600 px</a:t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7717353" y="2130551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0,09 %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7717353" y="2935223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 la superficie evaluable fue bonificada en 2021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7717353" y="3428999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0,9979</a:t>
            </a:r>
            <a:endParaRPr/>
          </a:p>
        </p:txBody>
      </p:sp>
      <p:sp>
        <p:nvSpPr>
          <p:cNvPr id="373" name="Google Shape;373;p14"/>
          <p:cNvSpPr txBox="1"/>
          <p:nvPr/>
        </p:nvSpPr>
        <p:spPr>
          <a:xfrm>
            <a:off x="7717353" y="4233672"/>
            <a:ext cx="3971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CL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peor</a:t>
            </a: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factor P alcanzado por el programa (</a:t>
            </a:r>
            <a:r>
              <a:rPr lang="es-CL" sz="1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Chepica)</a:t>
            </a:r>
            <a:endParaRPr/>
          </a:p>
        </p:txBody>
      </p:sp>
      <p:sp>
        <p:nvSpPr>
          <p:cNvPr id="374" name="Google Shape;374;p14"/>
          <p:cNvSpPr txBox="1"/>
          <p:nvPr/>
        </p:nvSpPr>
        <p:spPr>
          <a:xfrm>
            <a:off x="7717353" y="4727448"/>
            <a:ext cx="397142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4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375" name="Google Shape;375;p14"/>
          <p:cNvSpPr txBox="1"/>
          <p:nvPr/>
        </p:nvSpPr>
        <p:spPr>
          <a:xfrm>
            <a:off x="7717353" y="5532120"/>
            <a:ext cx="3971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registros de ejecución del SIRSD-S incorporados</a:t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137160" y="6327648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programa apenas mueve el factor P del modelo. El aporte del proyecto no es corregir ese factor, sino mostrar dónde debería concentrarse la inversión.</a:t>
            </a:r>
            <a:endParaRPr/>
          </a:p>
        </p:txBody>
      </p:sp>
      <p:pic>
        <p:nvPicPr>
          <p:cNvPr id="377" name="Google Shape;3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50" y="2077750"/>
            <a:ext cx="6813477" cy="376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82" name="Google Shape;3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1"/>
          <p:cNvSpPr txBox="1"/>
          <p:nvPr/>
        </p:nvSpPr>
        <p:spPr>
          <a:xfrm>
            <a:off x="137160" y="365760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“TerraFoco”</a:t>
            </a:r>
            <a:endParaRPr/>
          </a:p>
        </p:txBody>
      </p:sp>
      <p:cxnSp>
        <p:nvCxnSpPr>
          <p:cNvPr id="384" name="Google Shape;384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2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5" name="Google Shape;385;p11"/>
          <p:cNvSpPr txBox="1"/>
          <p:nvPr/>
        </p:nvSpPr>
        <p:spPr>
          <a:xfrm>
            <a:off x="137160" y="7772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Prototipo</a:t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137160" y="1554480"/>
            <a:ext cx="1072865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Siete pantallas navegables con cartografía real de la región. El visor sigue funcionando aunque la API no responda.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502920" y="2084831"/>
            <a:ext cx="3515258" cy="4014216"/>
          </a:xfrm>
          <a:prstGeom prst="roundRect">
            <a:avLst>
              <a:gd fmla="val 2601" name="adj"/>
            </a:avLst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559465" y="6151826"/>
            <a:ext cx="2966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C3052"/>
                </a:solidFill>
                <a:latin typeface="Calibri"/>
                <a:ea typeface="Calibri"/>
                <a:cs typeface="Calibri"/>
                <a:sym typeface="Calibri"/>
              </a:rPr>
              <a:t> Visor cartográfico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Las 33 comunas coloreadas por indicador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4338218" y="2084831"/>
            <a:ext cx="3515258" cy="4014216"/>
          </a:xfrm>
          <a:prstGeom prst="roundRect">
            <a:avLst>
              <a:gd fmla="val 2601" name="adj"/>
            </a:avLst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338213" y="6151826"/>
            <a:ext cx="2966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C3052"/>
                </a:solidFill>
                <a:latin typeface="Calibri"/>
                <a:ea typeface="Calibri"/>
                <a:cs typeface="Calibri"/>
                <a:sym typeface="Calibri"/>
              </a:rPr>
              <a:t>Detalle de comuna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Descenso al detalle intracomunal de 30 m</a:t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8447924" y="6117401"/>
            <a:ext cx="2966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1C3052"/>
                </a:solidFill>
                <a:latin typeface="Calibri"/>
                <a:ea typeface="Calibri"/>
                <a:cs typeface="Calibri"/>
                <a:sym typeface="Calibri"/>
              </a:rPr>
              <a:t>Índice de pertinencia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s-CL" sz="125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Ranking comunal y cuadrantes</a:t>
            </a:r>
            <a:endParaRPr/>
          </a:p>
        </p:txBody>
      </p:sp>
      <p:pic>
        <p:nvPicPr>
          <p:cNvPr id="392" name="Google Shape;39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5" y="2041200"/>
            <a:ext cx="3664801" cy="411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5219" y="2041200"/>
            <a:ext cx="3641281" cy="411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1"/>
          <p:cNvPicPr preferRelativeResize="0"/>
          <p:nvPr/>
        </p:nvPicPr>
        <p:blipFill rotWithShape="1">
          <a:blip r:embed="rId6">
            <a:alphaModFix/>
          </a:blip>
          <a:srcRect b="0" l="0" r="40427" t="0"/>
          <a:stretch/>
        </p:blipFill>
        <p:spPr>
          <a:xfrm>
            <a:off x="8024000" y="2613238"/>
            <a:ext cx="4039273" cy="2941388"/>
          </a:xfrm>
          <a:prstGeom prst="rect">
            <a:avLst/>
          </a:prstGeom>
          <a:solidFill>
            <a:srgbClr val="FBFCFD"/>
          </a:solidFill>
          <a:ln cap="flat" cmpd="sng" w="15875">
            <a:solidFill>
              <a:srgbClr val="1C305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4de14578_3_0"/>
          <p:cNvSpPr/>
          <p:nvPr/>
        </p:nvSpPr>
        <p:spPr>
          <a:xfrm>
            <a:off x="4211775" y="3994600"/>
            <a:ext cx="3954900" cy="19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a4de14578_3_0"/>
          <p:cNvSpPr txBox="1"/>
          <p:nvPr>
            <p:ph type="ctrTitle"/>
          </p:nvPr>
        </p:nvSpPr>
        <p:spPr>
          <a:xfrm>
            <a:off x="1550725" y="4290385"/>
            <a:ext cx="9144000" cy="1818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Gracias!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a4de14578_3_0"/>
          <p:cNvSpPr txBox="1"/>
          <p:nvPr>
            <p:ph idx="1" type="subTitle"/>
          </p:nvPr>
        </p:nvSpPr>
        <p:spPr>
          <a:xfrm>
            <a:off x="1497275" y="5153806"/>
            <a:ext cx="9144000" cy="77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Por su atención</a:t>
            </a:r>
            <a:endParaRPr/>
          </a:p>
        </p:txBody>
      </p:sp>
      <p:pic>
        <p:nvPicPr>
          <p:cNvPr descr="image.jpg" id="402" name="Google Shape;402;g3fa4de14578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
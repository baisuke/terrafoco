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1309350" cx="20104100"/>
  <p:notesSz cx="20104100" cy="113093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l/oDN9YLVnMPUQFO3QsHVTUwv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3738DE-DD61-4E99-B693-57096C26A7E1}">
  <a:tblStyle styleId="{D33738DE-DD61-4E99-B693-57096C26A7E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Kruchten, P. (1995). Architectural Blueprints — The 4+1 View Model of Software Architecture. IEEE Software 12(6). Los diagramas editables están en draw.io (importables en Lucidchart) en la carpeta 'Fase 2 - Arquitectura e innovacion'.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Clase central: v_pertinencia (migración 013). Normaliza necesidad e inversión (en logaritmo) por región, origen y dominio de validez y las resta.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Pruebas: 22 archivos en el motor y 11 en la API; 312 pasan al 12-10-2026 (50 omitidas porque requieren la base levantada).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0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CSV de 'Mis predios' nunca sale del navegador. El Web Worker refina el detalle a 30 m sin congelar la pantalla.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2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Actividad: motor/orquestacion/orquestador.py y programacion.py. Siete cadencias: única, semanal, mensual, estacional, trimestral, anual y manual. Secuencia: UC-05, navegador → Caddy → API → v_pertinencia, con la alternativa de la copia local.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2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Servidor: Google Cloud Compute Engine, región Santiago (southamerica-west1), prueba gratuita hasta el 11-01-2027. IP fija 34.176.35.86; HTTPS automático con Caddy sobre una dirección IP.sslip.io. Firewall: 22, 80 y 443; 4 GB de swap. Cadencias en el servidor: Sentinel-2 y OSM mensual, inundación trimestral, CIREN anual. Las credenciales de las fuentes viven en el .env del servidor (no versionado). La primera carga se subió por SSH con publicar.sh: código, .env, base, teselas y datos del motor (~3,7 GB). Cambio respecto del diseño anterior: antes el motor se quedaba en el PC y al servidor solo llegaba el resultado; ahora el servidor se actualiza solo.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Casos nuevos: UC-15 a UC-20 (UC-16 ya se usaba en el código). El Encargado de programa hereda los casos del Analista.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2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Motivos: GeoServer no expone los indicadores calculados; Power BI agrega licencia y otro sistema; Landsat exigía aprobación previa del USGS (interfaz M2M); el catastro de unidades vecinales no es público; E7 quedó como Could el 07-09-2026. Detalle en el documento 'TerraFoco - Arquitectura 4+1', sección 8.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2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Fuentes: DIPRES, Informe de Monitoreo y Seguimiento 2021 del SIRSD-S (indicador 61 % 2019, 61 % 2020, 54 % 2021; 'el indicador de propósito no permite medir el objetivo del programa'). DIPRES, Evaluación Ex Ante de Diseño 2025, SIRSD-S del SAG (calificación 'Objetado técnicamente'; criterios de focalización 'no son pertinentes ni objetivos'; diagnóstico con Censo Agropecuario 2007; indicador 16,03 % en 2023, estimados 6,10 % 2024 y 6,87 % 2025).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2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MapaInversiones (BID) está en 14 países de la región y georreferencia proyectos de inversión, pero no incorpora indicadores satelitales de necesidad. CIREN mide la erosión con RUSLE pero es una fotografía y no mira la inversión. DIPRES mide con indicadores agregados. Evidencia de que juntar ambos datos cambia decisiones: revisión de AidData (BenYishay y Parks, 2019), experimento en Malawi.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OCDE y Eurostat (2018), Oslo Manual, 4.ª ed. Innovación de proceso de negocio en el sector público; grado de novedad: nueva para la organización o el mercado, no para el mundo.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Detalle de cada elemento en el documento 'TerraFoco - Justificación de la innovación', sección 5.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30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-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de prototipo/datos/indicadores.js (copia local generada el 03-10-2026 por sembrar_indicadores.py), origen CIREN. Navidad: 25,9 t/ha/año, clase Severa, 0,3192 UF/ha erosionada. San Vicente: 16,01 t/ha/año, clase Moderada, 34,1576 UF/ha. Razón ≈ 107 veces. No mostrar como conclusión: la causa puede ser baja postulación, tenencia de la tierra o falta de operadores.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74897ec9e_0_103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f74897ec9e_0_103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255"/>
            <a:ext cx="20104100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1"/>
          <p:cNvSpPr/>
          <p:nvPr/>
        </p:nvSpPr>
        <p:spPr>
          <a:xfrm>
            <a:off x="5092767" y="7368222"/>
            <a:ext cx="10694670" cy="53340"/>
          </a:xfrm>
          <a:custGeom>
            <a:rect b="b" l="l" r="r" t="t"/>
            <a:pathLst>
              <a:path extrusionOk="0" h="53340" w="10694669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5092767" y="6322551"/>
            <a:ext cx="10694670" cy="1045671"/>
          </a:xfrm>
          <a:custGeom>
            <a:rect b="b" l="l" r="r" t="t"/>
            <a:pathLst>
              <a:path extrusionOk="0" h="1025525" w="10694669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5138402" y="6401309"/>
            <a:ext cx="106490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2" type="body"/>
          </p:nvPr>
        </p:nvSpPr>
        <p:spPr>
          <a:xfrm>
            <a:off x="4718050" y="5246439"/>
            <a:ext cx="114299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3" type="body"/>
          </p:nvPr>
        </p:nvSpPr>
        <p:spPr>
          <a:xfrm>
            <a:off x="5092767" y="7676832"/>
            <a:ext cx="1069498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" name="Google Shape;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9667" y="8484983"/>
            <a:ext cx="6220794" cy="2046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0952" y="10282677"/>
            <a:ext cx="4224383" cy="83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/>
          <p:nvPr/>
        </p:nvSpPr>
        <p:spPr>
          <a:xfrm>
            <a:off x="1" y="828729"/>
            <a:ext cx="4946650" cy="1168346"/>
          </a:xfrm>
          <a:prstGeom prst="rect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2"/>
          <p:cNvSpPr/>
          <p:nvPr/>
        </p:nvSpPr>
        <p:spPr>
          <a:xfrm>
            <a:off x="4998572" y="828729"/>
            <a:ext cx="152400" cy="1168346"/>
          </a:xfrm>
          <a:custGeom>
            <a:rect b="b" l="l" r="r" t="t"/>
            <a:pathLst>
              <a:path extrusionOk="0" h="6827520" w="53339">
                <a:moveTo>
                  <a:pt x="26606" y="0"/>
                </a:moveTo>
                <a:lnTo>
                  <a:pt x="16269" y="2095"/>
                </a:lnTo>
                <a:lnTo>
                  <a:pt x="7809" y="7806"/>
                </a:lnTo>
                <a:lnTo>
                  <a:pt x="2097" y="16264"/>
                </a:lnTo>
                <a:lnTo>
                  <a:pt x="0" y="26606"/>
                </a:lnTo>
                <a:lnTo>
                  <a:pt x="0" y="6800368"/>
                </a:lnTo>
                <a:lnTo>
                  <a:pt x="2097" y="6810704"/>
                </a:lnTo>
                <a:lnTo>
                  <a:pt x="7809" y="6819160"/>
                </a:lnTo>
                <a:lnTo>
                  <a:pt x="16269" y="6824869"/>
                </a:lnTo>
                <a:lnTo>
                  <a:pt x="26606" y="6826964"/>
                </a:lnTo>
                <a:lnTo>
                  <a:pt x="36943" y="6824869"/>
                </a:lnTo>
                <a:lnTo>
                  <a:pt x="45403" y="6819160"/>
                </a:lnTo>
                <a:lnTo>
                  <a:pt x="51115" y="6810704"/>
                </a:lnTo>
                <a:lnTo>
                  <a:pt x="53213" y="6800368"/>
                </a:lnTo>
                <a:lnTo>
                  <a:pt x="53213" y="26606"/>
                </a:lnTo>
                <a:lnTo>
                  <a:pt x="51115" y="16264"/>
                </a:lnTo>
                <a:lnTo>
                  <a:pt x="45403" y="7806"/>
                </a:lnTo>
                <a:lnTo>
                  <a:pt x="36943" y="2095"/>
                </a:lnTo>
                <a:lnTo>
                  <a:pt x="26606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574040" y="1258411"/>
            <a:ext cx="43434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2" type="body"/>
          </p:nvPr>
        </p:nvSpPr>
        <p:spPr>
          <a:xfrm>
            <a:off x="574675" y="2911475"/>
            <a:ext cx="4343400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2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" name="Google Shape;27;p12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28" name="Google Shape;28;p12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29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" name="Google Shape;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/>
          <p:nvPr/>
        </p:nvSpPr>
        <p:spPr>
          <a:xfrm>
            <a:off x="14603006" y="1768475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3"/>
          <p:cNvSpPr/>
          <p:nvPr/>
        </p:nvSpPr>
        <p:spPr>
          <a:xfrm>
            <a:off x="10415337" y="1768476"/>
            <a:ext cx="3392804" cy="7616568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3"/>
          <p:cNvSpPr/>
          <p:nvPr/>
        </p:nvSpPr>
        <p:spPr>
          <a:xfrm>
            <a:off x="6347214" y="1813303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3"/>
          <p:cNvSpPr/>
          <p:nvPr/>
        </p:nvSpPr>
        <p:spPr>
          <a:xfrm>
            <a:off x="2235659" y="1820288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3"/>
          <p:cNvSpPr txBox="1"/>
          <p:nvPr>
            <p:ph idx="1" type="body"/>
          </p:nvPr>
        </p:nvSpPr>
        <p:spPr>
          <a:xfrm>
            <a:off x="2432050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2" type="body"/>
          </p:nvPr>
        </p:nvSpPr>
        <p:spPr>
          <a:xfrm>
            <a:off x="2432050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3" type="body"/>
          </p:nvPr>
        </p:nvSpPr>
        <p:spPr>
          <a:xfrm>
            <a:off x="2520907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4" type="body"/>
          </p:nvPr>
        </p:nvSpPr>
        <p:spPr>
          <a:xfrm>
            <a:off x="6569873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5" type="body"/>
          </p:nvPr>
        </p:nvSpPr>
        <p:spPr>
          <a:xfrm>
            <a:off x="6569873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6" type="body"/>
          </p:nvPr>
        </p:nvSpPr>
        <p:spPr>
          <a:xfrm>
            <a:off x="6658730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7" type="body"/>
          </p:nvPr>
        </p:nvSpPr>
        <p:spPr>
          <a:xfrm>
            <a:off x="10642730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8" type="body"/>
          </p:nvPr>
        </p:nvSpPr>
        <p:spPr>
          <a:xfrm>
            <a:off x="10642730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9" type="body"/>
          </p:nvPr>
        </p:nvSpPr>
        <p:spPr>
          <a:xfrm>
            <a:off x="10731587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3" type="body"/>
          </p:nvPr>
        </p:nvSpPr>
        <p:spPr>
          <a:xfrm>
            <a:off x="14844104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4" type="body"/>
          </p:nvPr>
        </p:nvSpPr>
        <p:spPr>
          <a:xfrm>
            <a:off x="14844104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5" type="body"/>
          </p:nvPr>
        </p:nvSpPr>
        <p:spPr>
          <a:xfrm>
            <a:off x="14932961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/>
          <p:nvPr/>
        </p:nvSpPr>
        <p:spPr>
          <a:xfrm>
            <a:off x="3579241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3"/>
          <p:cNvSpPr/>
          <p:nvPr/>
        </p:nvSpPr>
        <p:spPr>
          <a:xfrm>
            <a:off x="7667696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3"/>
          <p:cNvSpPr/>
          <p:nvPr/>
        </p:nvSpPr>
        <p:spPr>
          <a:xfrm>
            <a:off x="15995650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3"/>
          <p:cNvSpPr/>
          <p:nvPr/>
        </p:nvSpPr>
        <p:spPr>
          <a:xfrm>
            <a:off x="11728450" y="571988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" name="Google Shape;54;p13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55" name="Google Shape;55;p13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104100" cy="737825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" name="Google Shape;62;p14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63" name="Google Shape;63;p14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4" name="Google Shape;64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7" name="Google Shape;67;p14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2196"/>
            <a:ext cx="20104100" cy="752051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74" name="Google Shape;74;p15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8" name="Google Shape;78;p15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20104101" cy="74072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16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85" name="Google Shape;85;p16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6" name="Google Shape;86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7" name="Google Shape;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9" name="Google Shape;89;p16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22225"/>
            <a:ext cx="20112123" cy="753468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7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96" name="Google Shape;96;p17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7" name="Google Shape;9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0" name="Google Shape;100;p17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80393" y="2411901"/>
            <a:ext cx="395605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/>
          <p:nvPr/>
        </p:nvSpPr>
        <p:spPr>
          <a:xfrm rot="10800000">
            <a:off x="4075900" y="3322900"/>
            <a:ext cx="11952300" cy="2115900"/>
          </a:xfrm>
          <a:prstGeom prst="rect">
            <a:avLst/>
          </a:prstGeom>
          <a:solidFill>
            <a:srgbClr val="317DE2"/>
          </a:solidFill>
          <a:ln cap="flat" cmpd="sng" w="9525">
            <a:solidFill>
              <a:srgbClr val="317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>
            <p:ph idx="1" type="body"/>
          </p:nvPr>
        </p:nvSpPr>
        <p:spPr>
          <a:xfrm>
            <a:off x="5280302" y="6464431"/>
            <a:ext cx="10649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5000">
                <a:solidFill>
                  <a:schemeClr val="lt1"/>
                </a:solidFill>
              </a:rPr>
              <a:t>CAPSTONE_003D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108" name="Google Shape;108;p1"/>
          <p:cNvSpPr txBox="1"/>
          <p:nvPr>
            <p:ph idx="2" type="body"/>
          </p:nvPr>
        </p:nvSpPr>
        <p:spPr>
          <a:xfrm>
            <a:off x="4321300" y="3765475"/>
            <a:ext cx="11461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s-ES" sz="7200">
                <a:latin typeface="Cambria"/>
                <a:ea typeface="Cambria"/>
                <a:cs typeface="Cambria"/>
                <a:sym typeface="Cambria"/>
              </a:rPr>
              <a:t>TerraFoco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 rot="10800000">
            <a:off x="700400" y="8420025"/>
            <a:ext cx="6129000" cy="2115900"/>
          </a:xfrm>
          <a:prstGeom prst="rect">
            <a:avLst/>
          </a:prstGeom>
          <a:solidFill>
            <a:srgbClr val="317DE2"/>
          </a:solidFill>
          <a:ln cap="flat" cmpd="sng" w="9525">
            <a:solidFill>
              <a:srgbClr val="317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>
            <p:ph idx="2" type="body"/>
          </p:nvPr>
        </p:nvSpPr>
        <p:spPr>
          <a:xfrm>
            <a:off x="974450" y="8641950"/>
            <a:ext cx="5887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-ES" sz="2700"/>
              <a:t>Integrantes: </a:t>
            </a:r>
            <a:endParaRPr b="0"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-ES" sz="2700"/>
              <a:t>Bastian Cárcamo</a:t>
            </a:r>
            <a:endParaRPr b="0"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-ES" sz="2700"/>
              <a:t>Antonio Lankin</a:t>
            </a:r>
            <a:endParaRPr b="0"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-ES" sz="2700"/>
              <a:t>Carla Morales</a:t>
            </a:r>
            <a:endParaRPr b="0" sz="2700"/>
          </a:p>
        </p:txBody>
      </p:sp>
      <p:sp>
        <p:nvSpPr>
          <p:cNvPr id="111" name="Google Shape;111;p1"/>
          <p:cNvSpPr/>
          <p:nvPr/>
        </p:nvSpPr>
        <p:spPr>
          <a:xfrm>
            <a:off x="4154465" y="3322910"/>
            <a:ext cx="7863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98F"/>
              </a:buClr>
              <a:buSzPts val="1200"/>
              <a:buFont typeface="Calibri"/>
              <a:buNone/>
            </a:pPr>
            <a:r>
              <a:rPr b="1" i="0" lang="es-E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ARQUITECTURA 4+1 E INNOVACIÓN  ·  OCTUBRE 2026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Modelo 4+1</a:t>
            </a:r>
            <a:endParaRPr/>
          </a:p>
        </p:txBody>
      </p:sp>
      <p:sp>
        <p:nvSpPr>
          <p:cNvPr id="117" name="Google Shape;117;p9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Cuatro vistas y un conjunto de escenarios que las une</a:t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1737360" y="3291840"/>
            <a:ext cx="3886200" cy="82296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LÓGICA</a:t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1737360" y="4206240"/>
            <a:ext cx="3886200" cy="310896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¿Qué conceptos maneja el sistema?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Diagrama: Clases del dominio</a:t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5989320" y="3291840"/>
            <a:ext cx="3886200" cy="82296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5989320" y="4206240"/>
            <a:ext cx="3886200" cy="310896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¿Cómo está organizado el código?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Diagrama: Paquetes y componentes</a:t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10241280" y="3291840"/>
            <a:ext cx="3886200" cy="82296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PROCESOS</a:t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10241280" y="4206240"/>
            <a:ext cx="3886200" cy="310896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¿Qué corre en paralelo y cómo se comunica?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Diagrama: Procesos, actividad y secuencia</a:t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14493240" y="3291840"/>
            <a:ext cx="3886200" cy="82296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FÍSICA</a:t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14493240" y="4206240"/>
            <a:ext cx="3886200" cy="310896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¿Dónde corre cada pieza?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Diagrama: Despliegue en la nube</a:t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1737360" y="7680960"/>
            <a:ext cx="16642080" cy="219456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457200" lIns="457200" spcFirstLastPara="1" rIns="457200" wrap="square" tIns="457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+1  Escenarios: </a:t>
            </a:r>
            <a:r>
              <a:rPr b="0" i="0" lang="es-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casos de uso recorren las cuatro vistas y demuestran que funcionan juntas. Todos los diagramas se revisaron contra el repositorio (commit 8da1af3, 11-10-2026), no contra la propuesta inicial.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Lógica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Qué conceptos maneja el sistema</a:t>
            </a:r>
            <a:endParaRPr/>
          </a:p>
        </p:txBody>
      </p:sp>
      <p:pic>
        <p:nvPicPr>
          <p:cNvPr descr="1 - Vista logica.png"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5714" y="3154680"/>
            <a:ext cx="107047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/>
          <p:nvPr/>
        </p:nvSpPr>
        <p:spPr>
          <a:xfrm>
            <a:off x="13533120" y="3154680"/>
            <a:ext cx="4846320" cy="68580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Cuatro paquetes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territorio, programas, indicadores y operación: los esquemas de la base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El índice es una vista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Pertinencia se calcula en cada consulta; cambiar el alcance no obliga a migrar datos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Auditable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Los cinco factores de RUSLE se guardan por separado y nada se sobrescribe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Sin datos personales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La inversión se agrega por comuna y año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Desarrollo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Cómo está organizado el código</a:t>
            </a:r>
            <a:endParaRPr/>
          </a:p>
        </p:txBody>
      </p:sp>
      <p:pic>
        <p:nvPicPr>
          <p:cNvPr descr="2 - Vista de desarrollo.png" id="141" name="Google Shape;1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2837" y="3154680"/>
            <a:ext cx="104304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/>
          <p:nvPr/>
        </p:nvSpPr>
        <p:spPr>
          <a:xfrm>
            <a:off x="13533120" y="3154680"/>
            <a:ext cx="4846320" cy="68580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22 ingestas, indicadores y orquestación sobre GDAL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10 routers y 32 operaciones con FastAPI, sin GDAL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Visor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HTML, CSS y JavaScript sin framework, con MapLibre, PMTiles y three.js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Regla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Motor y API no se importan entre sí: solo comparten el esquema de la base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Procesos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Qué corre en paralelo y cómo se comunica</a:t>
            </a:r>
            <a:endParaRPr/>
          </a:p>
        </p:txBody>
      </p:sp>
      <p:pic>
        <p:nvPicPr>
          <p:cNvPr descr="3a - Vista de procesos - procesos en ejecucion.png" id="149" name="Google Shape;1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3460475"/>
            <a:ext cx="11521440" cy="624640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/>
          <p:nvPr/>
        </p:nvSpPr>
        <p:spPr>
          <a:xfrm>
            <a:off x="13533120" y="3154680"/>
            <a:ext cx="4846320" cy="68580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Cinco procesos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Navegador, servidor web, API, PostgreSQL y programador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Cálculo en el cliente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La GPU colorea las teselas; las simulaciones y «Mis predios» corren en el navegador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API sin estado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2 procesos en producción; solo lee la base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Por qué separar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Una ingesta tarda horas: dentro de la API, el visor dejaría de responder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Procesos</a:t>
            </a:r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Ciclo del programador y consulta del índice</a:t>
            </a:r>
            <a:endParaRPr/>
          </a:p>
        </p:txBody>
      </p:sp>
      <p:pic>
        <p:nvPicPr>
          <p:cNvPr descr="3b - Vista de procesos - ciclo del programador.png" id="157" name="Google Shape;1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3658188"/>
            <a:ext cx="6949440" cy="4845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c - Vista de procesos - secuencia pertinencia.png" id="158" name="Google Shape;15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1120" y="3370916"/>
            <a:ext cx="9418320" cy="541968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1737360" y="914400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Cada hora revisa qué fuente venció según su cadencia; tras un error espera 24 h</a:t>
            </a:r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8961120" y="914400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Si la API no responde, el visor usa la copia local y lo declara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Física</a:t>
            </a:r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Dónde corre cada pieza: ya desplegado en la nube</a:t>
            </a:r>
            <a:endParaRPr/>
          </a:p>
        </p:txBody>
      </p:sp>
      <p:pic>
        <p:nvPicPr>
          <p:cNvPr descr="4 - Vista fisica (despliegue GCP).png" id="167" name="Google Shape;1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3315257"/>
            <a:ext cx="11521440" cy="653684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/>
          <p:nvPr/>
        </p:nvSpPr>
        <p:spPr>
          <a:xfrm>
            <a:off x="13533120" y="3154680"/>
            <a:ext cx="4846320" cy="68580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Google Cloud, Santiago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VM Ubuntu: 2 vCPU, 4 GB de RAM, 48 GB de disco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Todo corre en el servidor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Base, API, HTTPS, motor y el programador que actualiza las fuentes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Publicado el 12-10-2026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Con HTTPS gratuito (sslip.io), sin dominio propio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Respaldo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PC local, copia portable y Codespaces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Escenarios</a:t>
            </a:r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Los casos de uso, actualizados al sistema construido</a:t>
            </a:r>
            <a:endParaRPr/>
          </a:p>
        </p:txBody>
      </p:sp>
      <p:pic>
        <p:nvPicPr>
          <p:cNvPr descr="5 - Vista de escenarios.png" id="175" name="Google Shape;1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7947" y="3154680"/>
            <a:ext cx="1102026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/>
          <p:nvPr/>
        </p:nvSpPr>
        <p:spPr>
          <a:xfrm>
            <a:off x="13533120" y="3154680"/>
            <a:ext cx="4846320" cy="68580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6 casos nuevos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Evolución de la focalización, dominio de validez, exposición, dos simulaciones y «Mis predios»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Fuera de alcance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UC-13, modelos predictivos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Lectura pública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La clave se pide solo para escribir en el catálogo de fuentes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Recorrido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UC-05 atraviesa las cuatro vistas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Revisión</a:t>
            </a:r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Qué cambió respecto de la arquitectura de la Fase 1</a:t>
            </a:r>
            <a:endParaRPr/>
          </a:p>
        </p:txBody>
      </p:sp>
      <p:graphicFrame>
        <p:nvGraphicFramePr>
          <p:cNvPr id="183" name="Google Shape;183;p24"/>
          <p:cNvGraphicFramePr/>
          <p:nvPr/>
        </p:nvGraphicFramePr>
        <p:xfrm>
          <a:off x="1737360" y="3291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{D33738DE-DD61-4E99-B693-57096C26A7E1}</a:tableStyleId>
              </a:tblPr>
              <a:tblGrid>
                <a:gridCol w="6989675"/>
                <a:gridCol w="9652400"/>
              </a:tblGrid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Propuesta de Fase 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317D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Sistema construido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317DE2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800" u="none" cap="none" strike="noStrike">
                          <a:solidFill>
                            <a:srgbClr val="284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GeoServer (WMS/WFS)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800" u="none" cap="none" strike="noStrike">
                          <a:solidFill>
                            <a:srgbClr val="1C32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GeoJSON desde la API y teselas PMTiles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800" u="none" cap="none" strike="noStrike">
                          <a:solidFill>
                            <a:srgbClr val="284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Tablero en Power BI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800" u="none" cap="none" strike="noStrike">
                          <a:solidFill>
                            <a:srgbClr val="1C32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Gráficos propios en el visor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800" u="none" cap="none" strike="noStrike">
                          <a:solidFill>
                            <a:srgbClr val="284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Visor en React con Nginx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800" u="none" cap="none" strike="noStrike">
                          <a:solidFill>
                            <a:srgbClr val="1C32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HTML y JS sin framework; Caddy con HTTPS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800" u="none" cap="none" strike="noStrike">
                          <a:solidFill>
                            <a:srgbClr val="284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Landsat (banda térmica)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800" u="none" cap="none" strike="noStrike">
                          <a:solidFill>
                            <a:srgbClr val="1C32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ECOSTRESS (NASA)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800" u="none" cap="none" strike="noStrike">
                          <a:solidFill>
                            <a:srgbClr val="284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Planillas de Transparencia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800" u="none" cap="none" strike="noStrike">
                          <a:solidFill>
                            <a:srgbClr val="1C32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Servicio de IDE MINAGRI y serie 2012–2025 de INDAP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800" u="none" cap="none" strike="noStrike">
                          <a:solidFill>
                            <a:srgbClr val="284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Unidad vecinal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800" u="none" cap="none" strike="noStrike">
                          <a:solidFill>
                            <a:srgbClr val="1C32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Zona censal (Censo 2024)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800" u="none" cap="none" strike="noStrike">
                          <a:solidFill>
                            <a:srgbClr val="284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Modelado predictivo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800" u="none" cap="none" strike="noStrike">
                          <a:solidFill>
                            <a:srgbClr val="1C32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alcance comprometido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El problema</a:t>
            </a:r>
            <a:endParaRPr/>
          </a:p>
        </p:txBody>
      </p:sp>
      <p:sp>
        <p:nvSpPr>
          <p:cNvPr id="189" name="Google Shape;189;p26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El programa no puede medir si llega donde debe</a:t>
            </a: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1737360" y="3429000"/>
            <a:ext cx="5303520" cy="402336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16 %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las comunas con suelos altamente erosionados fueron intervenidas en 2023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Bajó desde 61 % en 2019–2020</a:t>
            </a:r>
            <a:endParaRPr/>
          </a:p>
        </p:txBody>
      </p:sp>
      <p:sp>
        <p:nvSpPr>
          <p:cNvPr id="191" name="Google Shape;191;p26"/>
          <p:cNvSpPr/>
          <p:nvPr/>
        </p:nvSpPr>
        <p:spPr>
          <a:xfrm>
            <a:off x="7406640" y="3429000"/>
            <a:ext cx="5303520" cy="402336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ctr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317DE2"/>
                </a:solidFill>
                <a:latin typeface="Arial"/>
                <a:ea typeface="Arial"/>
                <a:cs typeface="Arial"/>
                <a:sym typeface="Arial"/>
              </a:rPr>
              <a:t>Objetado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calificó DIPRES el diseño del SIRSD-S (SAG) en su evaluación ex ante 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Criterios de focalización «no pertinentes ni objetivos»</a:t>
            </a:r>
            <a:endParaRPr/>
          </a:p>
        </p:txBody>
      </p:sp>
      <p:sp>
        <p:nvSpPr>
          <p:cNvPr id="192" name="Google Shape;192;p26"/>
          <p:cNvSpPr/>
          <p:nvPr/>
        </p:nvSpPr>
        <p:spPr>
          <a:xfrm>
            <a:off x="13075920" y="3429000"/>
            <a:ext cx="5303520" cy="402336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ctr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317DE2"/>
                </a:solidFill>
                <a:latin typeface="Arial"/>
                <a:ea typeface="Arial"/>
                <a:cs typeface="Arial"/>
                <a:sym typeface="Arial"/>
              </a:rPr>
              <a:t>2007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es el año del Censo Agropecuario que aún usa el diagnóstico del programa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El indicador de propósito «no permite medir el objetivo»</a:t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1737360" y="7909560"/>
            <a:ext cx="16642080" cy="201168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457200" lIns="457200" spcFirstLastPara="1" rIns="457200" wrap="square" tIns="457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datos existen: </a:t>
            </a:r>
            <a:r>
              <a:rPr b="0" i="0" lang="es-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inventario de erosión de CIREN, las imágenes satelitales y la ejecución del programa. Lo que falta es una herramienta que los cruce.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Lo que existe</a:t>
            </a:r>
            <a:endParaRPr/>
          </a:p>
        </p:txBody>
      </p:sp>
      <p:sp>
        <p:nvSpPr>
          <p:cNvPr id="199" name="Google Shape;199;p27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Cada herramienta resuelve una mitad</a:t>
            </a:r>
            <a:endParaRPr/>
          </a:p>
        </p:txBody>
      </p:sp>
      <p:graphicFrame>
        <p:nvGraphicFramePr>
          <p:cNvPr id="200" name="Google Shape;200;p27"/>
          <p:cNvGraphicFramePr/>
          <p:nvPr/>
        </p:nvGraphicFramePr>
        <p:xfrm>
          <a:off x="1737360" y="3383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{D33738DE-DD61-4E99-B693-57096C26A7E1}</a:tableStyleId>
              </a:tblPr>
              <a:tblGrid>
                <a:gridCol w="5669275"/>
                <a:gridCol w="2194550"/>
                <a:gridCol w="2194550"/>
                <a:gridCol w="2194550"/>
                <a:gridCol w="2194550"/>
                <a:gridCol w="2194550"/>
              </a:tblGrid>
              <a:tr h="86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Herramienta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317D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Mide la necesidad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317D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Mide la inversión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317D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 cruza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317D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actualiza sola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317D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 saber SIG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317DE2"/>
                    </a:solidFill>
                  </a:tcPr>
                </a:tc>
              </a:tr>
              <a:tr h="86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 u="none" cap="none" strike="noStrike">
                          <a:solidFill>
                            <a:srgbClr val="1C32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Inventario de erosión (CIREN)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8A93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8A93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8A93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</a:tr>
              <a:tr h="86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 u="none" cap="none" strike="noStrike">
                          <a:solidFill>
                            <a:srgbClr val="1C32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 MINAGRI y geoportales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84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capas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84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capas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8A93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8A93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86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 u="none" cap="none" strike="noStrike">
                          <a:solidFill>
                            <a:srgbClr val="1C32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MapaInversiones (BID)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8A93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8A93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</a:tr>
              <a:tr h="86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 u="none" cap="none" strike="noStrike">
                          <a:solidFill>
                            <a:srgbClr val="1C32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Monitoreo DIPRES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8A93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84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parcial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84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86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 u="none" cap="none" strike="noStrike">
                          <a:solidFill>
                            <a:srgbClr val="1C32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Earth Engine y modelos globales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8A93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8A93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2400" u="none" cap="none" strike="noStrike">
                          <a:solidFill>
                            <a:srgbClr val="8A93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F1EE"/>
                    </a:solidFill>
                  </a:tcPr>
                </a:tc>
              </a:tr>
              <a:tr h="86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TerraFoco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C32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C32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C32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C32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C32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C32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Tipo</a:t>
            </a:r>
            <a:endParaRPr/>
          </a:p>
        </p:txBody>
      </p:sp>
      <p:sp>
        <p:nvSpPr>
          <p:cNvPr id="206" name="Google Shape;206;p28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Qué tipo de innovación es (Manual de Oslo, 2018)</a:t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1737360" y="3383280"/>
            <a:ext cx="5303520" cy="77724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</a:t>
            </a:r>
            <a:endParaRPr/>
          </a:p>
        </p:txBody>
      </p:sp>
      <p:sp>
        <p:nvSpPr>
          <p:cNvPr id="208" name="Google Shape;208;p28"/>
          <p:cNvSpPr/>
          <p:nvPr/>
        </p:nvSpPr>
        <p:spPr>
          <a:xfrm>
            <a:off x="1737360" y="4251960"/>
            <a:ext cx="5303520" cy="356616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Innovación de proceso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s-ES" sz="25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Cambia cómo se evalúa y prioriza la focalización de un programa público, apoyada en un producto digital nuevo</a:t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7406640" y="3383280"/>
            <a:ext cx="5303520" cy="77724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NOVEDAD</a:t>
            </a:r>
            <a:endParaRPr/>
          </a:p>
        </p:txBody>
      </p:sp>
      <p:sp>
        <p:nvSpPr>
          <p:cNvPr id="210" name="Google Shape;210;p28"/>
          <p:cNvSpPr/>
          <p:nvPr/>
        </p:nvSpPr>
        <p:spPr>
          <a:xfrm>
            <a:off x="7406640" y="4251960"/>
            <a:ext cx="5303520" cy="356616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Nueva para el contexto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s-ES" sz="25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Nueva para INDAP y el SIRSD-S en Chile; no es nueva para el mundo</a:t>
            </a:r>
            <a:endParaRPr/>
          </a:p>
        </p:txBody>
      </p:sp>
      <p:sp>
        <p:nvSpPr>
          <p:cNvPr id="211" name="Google Shape;211;p28"/>
          <p:cNvSpPr/>
          <p:nvPr/>
        </p:nvSpPr>
        <p:spPr>
          <a:xfrm>
            <a:off x="13075920" y="3383280"/>
            <a:ext cx="5303520" cy="77724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NATURALEZA</a:t>
            </a:r>
            <a:endParaRPr/>
          </a:p>
        </p:txBody>
      </p:sp>
      <p:sp>
        <p:nvSpPr>
          <p:cNvPr id="212" name="Google Shape;212;p28"/>
          <p:cNvSpPr/>
          <p:nvPr/>
        </p:nvSpPr>
        <p:spPr>
          <a:xfrm>
            <a:off x="13075920" y="4251960"/>
            <a:ext cx="5303520" cy="356616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Incremental por recombinación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s-ES" sz="9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s-ES" sz="25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RUSLE, Sentinel-2 y PostGIS ya existen; lo nuevo es juntarlos para responder esta pregunta</a:t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1737360" y="8138160"/>
            <a:ext cx="16642080" cy="173736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457200" lIns="457200" spcFirstLastPara="1" rIns="457200" wrap="square" tIns="457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Decirlo así es más sólido: </a:t>
            </a:r>
            <a:r>
              <a:rPr b="0" i="0" lang="es-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componente se puede verificar, y el aporte queda donde realmente está, en el cruce.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Lo innovador</a:t>
            </a:r>
            <a:endParaRPr/>
          </a:p>
        </p:txBody>
      </p:sp>
      <p:sp>
        <p:nvSpPr>
          <p:cNvPr id="219" name="Google Shape;219;p29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Cinco elementos que no existen juntos en otra herramienta</a:t>
            </a:r>
            <a:endParaRPr/>
          </a:p>
        </p:txBody>
      </p:sp>
      <p:sp>
        <p:nvSpPr>
          <p:cNvPr id="220" name="Google Shape;220;p29"/>
          <p:cNvSpPr/>
          <p:nvPr/>
        </p:nvSpPr>
        <p:spPr>
          <a:xfrm>
            <a:off x="1737360" y="3383280"/>
            <a:ext cx="3108960" cy="64008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Índice de necesidad vs. inversión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Erosión vs. incentivo SIRSD-S 2012–2025 en UF por hectárea erosionada, comuna por comuna</a:t>
            </a:r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2057400" y="3657600"/>
            <a:ext cx="822960" cy="822960"/>
          </a:xfrm>
          <a:prstGeom prst="ellipse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5120640" y="3383280"/>
            <a:ext cx="3108960" cy="64008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Honestidad metodológica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Dominio de validez, validación ejecutada y nunca un dato inventado</a:t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5440680" y="3657600"/>
            <a:ext cx="822960" cy="822960"/>
          </a:xfrm>
          <a:prstGeom prst="ellipse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24" name="Google Shape;224;p29"/>
          <p:cNvSpPr/>
          <p:nvPr/>
        </p:nvSpPr>
        <p:spPr>
          <a:xfrm>
            <a:off x="8503920" y="3383280"/>
            <a:ext cx="3108960" cy="64008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Actualización continua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Un programador recalcula cada fuente según su cadencia, con datos abiertos</a:t>
            </a:r>
            <a:endParaRPr/>
          </a:p>
        </p:txBody>
      </p:sp>
      <p:sp>
        <p:nvSpPr>
          <p:cNvPr id="225" name="Google Shape;225;p29"/>
          <p:cNvSpPr/>
          <p:nvPr/>
        </p:nvSpPr>
        <p:spPr>
          <a:xfrm>
            <a:off x="8823960" y="3657600"/>
            <a:ext cx="822960" cy="822960"/>
          </a:xfrm>
          <a:prstGeom prst="ellipse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26" name="Google Shape;226;p29"/>
          <p:cNvSpPr/>
          <p:nvPr/>
        </p:nvSpPr>
        <p:spPr>
          <a:xfrm>
            <a:off x="11887200" y="3383280"/>
            <a:ext cx="3108960" cy="64008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De la comuna al predio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Detalle a 30 m y evaluación de predios en el navegador, sin datos personales</a:t>
            </a:r>
            <a:endParaRPr/>
          </a:p>
        </p:txBody>
      </p:sp>
      <p:sp>
        <p:nvSpPr>
          <p:cNvPr id="227" name="Google Shape;227;p29"/>
          <p:cNvSpPr/>
          <p:nvPr/>
        </p:nvSpPr>
        <p:spPr>
          <a:xfrm>
            <a:off x="12207240" y="3657600"/>
            <a:ext cx="822960" cy="822960"/>
          </a:xfrm>
          <a:prstGeom prst="ellipse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28" name="Google Shape;228;p29"/>
          <p:cNvSpPr/>
          <p:nvPr/>
        </p:nvSpPr>
        <p:spPr>
          <a:xfrm>
            <a:off x="15270480" y="3383280"/>
            <a:ext cx="3108960" cy="64008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Bajo costo y escalable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s-ES" sz="7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s-ES" sz="23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Fuentes públicas y software libre; agregar una región es agregar una fila</a:t>
            </a:r>
            <a:endParaRPr/>
          </a:p>
        </p:txBody>
      </p:sp>
      <p:sp>
        <p:nvSpPr>
          <p:cNvPr id="229" name="Google Shape;229;p29"/>
          <p:cNvSpPr/>
          <p:nvPr/>
        </p:nvSpPr>
        <p:spPr>
          <a:xfrm>
            <a:off x="15590520" y="3657600"/>
            <a:ext cx="822960" cy="822960"/>
          </a:xfrm>
          <a:prstGeom prst="ellipse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Resultado</a:t>
            </a:r>
            <a:endParaRPr/>
          </a:p>
        </p:txBody>
      </p:sp>
      <p:sp>
        <p:nvSpPr>
          <p:cNvPr id="235" name="Google Shape;235;p30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La inversión por hectárea erosionada varía más de 100 veces</a:t>
            </a:r>
            <a:endParaRPr/>
          </a:p>
        </p:txBody>
      </p:sp>
      <p:sp>
        <p:nvSpPr>
          <p:cNvPr id="236" name="Google Shape;236;p30"/>
          <p:cNvSpPr/>
          <p:nvPr/>
        </p:nvSpPr>
        <p:spPr>
          <a:xfrm>
            <a:off x="1737360" y="3383280"/>
            <a:ext cx="7863840" cy="457200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457200" lIns="457200" spcFirstLastPara="1" rIns="457200" wrap="square" tIns="457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Navidad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Erosión severa: 25,9 t/ha/año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0,32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UF por hectárea erosionada (2012–2025)</a:t>
            </a:r>
            <a:endParaRPr/>
          </a:p>
        </p:txBody>
      </p:sp>
      <p:sp>
        <p:nvSpPr>
          <p:cNvPr id="237" name="Google Shape;237;p30"/>
          <p:cNvSpPr/>
          <p:nvPr/>
        </p:nvSpPr>
        <p:spPr>
          <a:xfrm>
            <a:off x="10515600" y="3383280"/>
            <a:ext cx="7863840" cy="45720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ctr" bIns="457200" lIns="457200" spcFirstLastPara="1" rIns="457200" wrap="square" tIns="457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9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San Vicente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Erosión moderada: 16,0 t/ha/año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80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34,2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UF por hectárea erosionada (2012–2025)</a:t>
            </a:r>
            <a:endParaRPr/>
          </a:p>
        </p:txBody>
      </p:sp>
      <p:sp>
        <p:nvSpPr>
          <p:cNvPr id="238" name="Google Shape;238;p30"/>
          <p:cNvSpPr txBox="1"/>
          <p:nvPr/>
        </p:nvSpPr>
        <p:spPr>
          <a:xfrm>
            <a:off x="1737360" y="8229600"/>
            <a:ext cx="16642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5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Primer resultado, preliminar: </a:t>
            </a:r>
            <a:r>
              <a:rPr b="0" i="0" lang="es-ES" sz="25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27 comunas dentro del dominio de validez, erosión de CIREN, copia de datos del 03-10-2026. Una brecha no prueba una mala focalización (el SIRSD-S se asigna por concurso): señala dónde mirar. Se revisará con INDAP.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Valor</a:t>
            </a:r>
            <a:endParaRPr/>
          </a:p>
        </p:txBody>
      </p:sp>
      <p:sp>
        <p:nvSpPr>
          <p:cNvPr id="244" name="Google Shape;244;p31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Qué gana INDAP y el Estado</a:t>
            </a:r>
            <a:endParaRPr/>
          </a:p>
        </p:txBody>
      </p:sp>
      <p:sp>
        <p:nvSpPr>
          <p:cNvPr id="245" name="Google Shape;245;p31"/>
          <p:cNvSpPr/>
          <p:nvPr/>
        </p:nvSpPr>
        <p:spPr>
          <a:xfrm>
            <a:off x="1737360" y="3383280"/>
            <a:ext cx="3886200" cy="82296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ENCARGADOS DEL SIRSD-S</a:t>
            </a:r>
            <a:endParaRPr/>
          </a:p>
        </p:txBody>
      </p:sp>
      <p:sp>
        <p:nvSpPr>
          <p:cNvPr id="246" name="Google Shape;246;p31"/>
          <p:cNvSpPr/>
          <p:nvPr/>
        </p:nvSpPr>
        <p:spPr>
          <a:xfrm>
            <a:off x="1737360" y="4297680"/>
            <a:ext cx="3886200" cy="420624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Un ranking de comunas donde la inversión no acompaña a la degradación, para orientar la difusión de los concursos</a:t>
            </a:r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5989320" y="3383280"/>
            <a:ext cx="3886200" cy="82296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DISEÑO Y EVALUACIÓN</a:t>
            </a:r>
            <a:endParaRPr/>
          </a:p>
        </p:txBody>
      </p:sp>
      <p:sp>
        <p:nvSpPr>
          <p:cNvPr id="248" name="Google Shape;248;p31"/>
          <p:cNvSpPr/>
          <p:nvPr/>
        </p:nvSpPr>
        <p:spPr>
          <a:xfrm>
            <a:off x="5989320" y="4297680"/>
            <a:ext cx="3886200" cy="420624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Un indicador complementario que mide lo que hoy no se mide: la relación entre necesidad e inversión</a:t>
            </a:r>
            <a:endParaRPr/>
          </a:p>
        </p:txBody>
      </p:sp>
      <p:sp>
        <p:nvSpPr>
          <p:cNvPr id="249" name="Google Shape;249;p31"/>
          <p:cNvSpPr/>
          <p:nvPr/>
        </p:nvSpPr>
        <p:spPr>
          <a:xfrm>
            <a:off x="10241280" y="3383280"/>
            <a:ext cx="3886200" cy="82296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PROFESIONALES EN TERRENO</a:t>
            </a:r>
            <a:endParaRPr/>
          </a:p>
        </p:txBody>
      </p:sp>
      <p:sp>
        <p:nvSpPr>
          <p:cNvPr id="250" name="Google Shape;250;p31"/>
          <p:cNvSpPr/>
          <p:nvPr/>
        </p:nvSpPr>
        <p:spPr>
          <a:xfrm>
            <a:off x="10241280" y="4297680"/>
            <a:ext cx="3886200" cy="420624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Evaluar predios concretos y exportarlos a Google Earth o QGIS</a:t>
            </a:r>
            <a:endParaRPr/>
          </a:p>
        </p:txBody>
      </p:sp>
      <p:sp>
        <p:nvSpPr>
          <p:cNvPr id="251" name="Google Shape;251;p31"/>
          <p:cNvSpPr/>
          <p:nvPr/>
        </p:nvSpPr>
        <p:spPr>
          <a:xfrm>
            <a:off x="14493240" y="3383280"/>
            <a:ext cx="3886200" cy="822960"/>
          </a:xfrm>
          <a:prstGeom prst="roundRect">
            <a:avLst>
              <a:gd fmla="val 5000" name="adj"/>
            </a:avLst>
          </a:prstGeom>
          <a:solidFill>
            <a:srgbClr val="317DE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CIUDADANÍA</a:t>
            </a:r>
            <a:endParaRPr/>
          </a:p>
        </p:txBody>
      </p:sp>
      <p:sp>
        <p:nvSpPr>
          <p:cNvPr id="252" name="Google Shape;252;p31"/>
          <p:cNvSpPr/>
          <p:nvPr/>
        </p:nvSpPr>
        <p:spPr>
          <a:xfrm>
            <a:off x="14493240" y="4297680"/>
            <a:ext cx="3886200" cy="420624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t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Transparencia sobre dónde se invierte y con qué criterio</a:t>
            </a:r>
            <a:endParaRPr/>
          </a:p>
        </p:txBody>
      </p:sp>
      <p:sp>
        <p:nvSpPr>
          <p:cNvPr id="253" name="Google Shape;253;p31"/>
          <p:cNvSpPr txBox="1"/>
          <p:nvPr/>
        </p:nvSpPr>
        <p:spPr>
          <a:xfrm>
            <a:off x="1737360" y="8778240"/>
            <a:ext cx="16642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Cuesta poco: </a:t>
            </a:r>
            <a:r>
              <a:rPr b="0" i="0" lang="es-ES" sz="28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corre en una máquina virtual pequeña en Google Cloud o desde un pendrive, sin instalar nada.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idx="1" type="body"/>
          </p:nvPr>
        </p:nvSpPr>
        <p:spPr>
          <a:xfrm>
            <a:off x="393215" y="1072386"/>
            <a:ext cx="43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200">
                <a:solidFill>
                  <a:srgbClr val="FFFFFF"/>
                </a:solidFill>
              </a:rPr>
              <a:t>Límites</a:t>
            </a:r>
            <a:endParaRPr/>
          </a:p>
        </p:txBody>
      </p:sp>
      <p:sp>
        <p:nvSpPr>
          <p:cNvPr id="259" name="Google Shape;259;p32"/>
          <p:cNvSpPr txBox="1"/>
          <p:nvPr/>
        </p:nvSpPr>
        <p:spPr>
          <a:xfrm>
            <a:off x="1600200" y="1783080"/>
            <a:ext cx="1691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Lo que declaramos, para que el resto se pueda creer</a:t>
            </a:r>
            <a:endParaRPr/>
          </a:p>
        </p:txBody>
      </p:sp>
      <p:sp>
        <p:nvSpPr>
          <p:cNvPr id="260" name="Google Shape;260;p32"/>
          <p:cNvSpPr/>
          <p:nvPr/>
        </p:nvSpPr>
        <p:spPr>
          <a:xfrm>
            <a:off x="1737360" y="3657600"/>
            <a:ext cx="822960" cy="822960"/>
          </a:xfrm>
          <a:prstGeom prst="ellipse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1" name="Google Shape;261;p32"/>
          <p:cNvSpPr txBox="1"/>
          <p:nvPr/>
        </p:nvSpPr>
        <p:spPr>
          <a:xfrm>
            <a:off x="2834639" y="3383280"/>
            <a:ext cx="6949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Una brecha no prueba una mala focalización</a:t>
            </a:r>
            <a:endParaRPr/>
          </a:p>
        </p:txBody>
      </p:sp>
      <p:sp>
        <p:nvSpPr>
          <p:cNvPr id="262" name="Google Shape;262;p32"/>
          <p:cNvSpPr/>
          <p:nvPr/>
        </p:nvSpPr>
        <p:spPr>
          <a:xfrm>
            <a:off x="9966960" y="3383280"/>
            <a:ext cx="8412480" cy="13716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5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El programa se asigna por concurso: una comuna puede recibir poco porque postula poco</a:t>
            </a:r>
            <a:endParaRPr/>
          </a:p>
        </p:txBody>
      </p:sp>
      <p:sp>
        <p:nvSpPr>
          <p:cNvPr id="263" name="Google Shape;263;p32"/>
          <p:cNvSpPr/>
          <p:nvPr/>
        </p:nvSpPr>
        <p:spPr>
          <a:xfrm>
            <a:off x="1737360" y="5303520"/>
            <a:ext cx="822960" cy="822960"/>
          </a:xfrm>
          <a:prstGeom prst="ellipse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64" name="Google Shape;264;p32"/>
          <p:cNvSpPr txBox="1"/>
          <p:nvPr/>
        </p:nvSpPr>
        <p:spPr>
          <a:xfrm>
            <a:off x="2834639" y="5029200"/>
            <a:ext cx="6949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Mide cuánto se invierte, no qué tan bien</a:t>
            </a:r>
            <a:endParaRPr/>
          </a:p>
        </p:txBody>
      </p:sp>
      <p:sp>
        <p:nvSpPr>
          <p:cNvPr id="265" name="Google Shape;265;p32"/>
          <p:cNvSpPr/>
          <p:nvPr/>
        </p:nvSpPr>
        <p:spPr>
          <a:xfrm>
            <a:off x="9966960" y="5029200"/>
            <a:ext cx="8412480" cy="13716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5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No evalúa la calidad ni el efecto de las prácticas financiadas</a:t>
            </a:r>
            <a:endParaRPr/>
          </a:p>
        </p:txBody>
      </p:sp>
      <p:sp>
        <p:nvSpPr>
          <p:cNvPr id="266" name="Google Shape;266;p32"/>
          <p:cNvSpPr/>
          <p:nvPr/>
        </p:nvSpPr>
        <p:spPr>
          <a:xfrm>
            <a:off x="1737360" y="6949440"/>
            <a:ext cx="822960" cy="822960"/>
          </a:xfrm>
          <a:prstGeom prst="ellipse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67" name="Google Shape;267;p32"/>
          <p:cNvSpPr txBox="1"/>
          <p:nvPr/>
        </p:nvSpPr>
        <p:spPr>
          <a:xfrm>
            <a:off x="2834639" y="6675120"/>
            <a:ext cx="6949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RUSLE estima, no mide</a:t>
            </a:r>
            <a:endParaRPr/>
          </a:p>
        </p:txBody>
      </p:sp>
      <p:sp>
        <p:nvSpPr>
          <p:cNvPr id="268" name="Google Shape;268;p32"/>
          <p:cNvSpPr/>
          <p:nvPr/>
        </p:nvSpPr>
        <p:spPr>
          <a:xfrm>
            <a:off x="9966960" y="6675120"/>
            <a:ext cx="8412480" cy="13716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5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Seis comunas precordilleranas quedan fuera del dominio de validez</a:t>
            </a:r>
            <a:endParaRPr/>
          </a:p>
        </p:txBody>
      </p:sp>
      <p:sp>
        <p:nvSpPr>
          <p:cNvPr id="269" name="Google Shape;269;p32"/>
          <p:cNvSpPr/>
          <p:nvPr/>
        </p:nvSpPr>
        <p:spPr>
          <a:xfrm>
            <a:off x="1737360" y="8595360"/>
            <a:ext cx="822960" cy="822960"/>
          </a:xfrm>
          <a:prstGeom prst="ellipse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70" name="Google Shape;270;p32"/>
          <p:cNvSpPr txBox="1"/>
          <p:nvPr/>
        </p:nvSpPr>
        <p:spPr>
          <a:xfrm>
            <a:off x="2834639" y="8321040"/>
            <a:ext cx="6949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rgbClr val="1C3231"/>
                </a:solidFill>
                <a:latin typeface="Arial"/>
                <a:ea typeface="Arial"/>
                <a:cs typeface="Arial"/>
                <a:sym typeface="Arial"/>
              </a:rPr>
              <a:t>Falta la validación con usuarios</a:t>
            </a:r>
            <a:endParaRPr/>
          </a:p>
        </p:txBody>
      </p:sp>
      <p:sp>
        <p:nvSpPr>
          <p:cNvPr id="271" name="Google Shape;271;p32"/>
          <p:cNvSpPr/>
          <p:nvPr/>
        </p:nvSpPr>
        <p:spPr>
          <a:xfrm>
            <a:off x="9966960" y="8321040"/>
            <a:ext cx="8412480" cy="1371600"/>
          </a:xfrm>
          <a:prstGeom prst="roundRect">
            <a:avLst>
              <a:gd fmla="val 5000" name="adj"/>
            </a:avLst>
          </a:prstGeom>
          <a:solidFill>
            <a:srgbClr val="EDF1EE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500" u="none" cap="none" strike="noStrike">
                <a:solidFill>
                  <a:srgbClr val="284745"/>
                </a:solidFill>
                <a:latin typeface="Arial"/>
                <a:ea typeface="Arial"/>
                <a:cs typeface="Arial"/>
                <a:sym typeface="Arial"/>
              </a:rPr>
              <a:t>La prueba con INDAP es el siguiente hito (Sprint 3)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74897ec9e_0_103"/>
          <p:cNvSpPr txBox="1"/>
          <p:nvPr>
            <p:ph idx="1" type="body"/>
          </p:nvPr>
        </p:nvSpPr>
        <p:spPr>
          <a:xfrm>
            <a:off x="8201376" y="6351975"/>
            <a:ext cx="447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solidFill>
                  <a:schemeClr val="lt1"/>
                </a:solidFill>
              </a:rPr>
              <a:t>Gracias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7" name="Google Shape;277;g3f74897ec9e_0_103"/>
          <p:cNvSpPr/>
          <p:nvPr/>
        </p:nvSpPr>
        <p:spPr>
          <a:xfrm>
            <a:off x="5800150" y="1875325"/>
            <a:ext cx="8503800" cy="3983100"/>
          </a:xfrm>
          <a:prstGeom prst="roundRect">
            <a:avLst>
              <a:gd fmla="val 2388" name="adj"/>
            </a:avLst>
          </a:prstGeom>
          <a:solidFill>
            <a:srgbClr val="317DE2"/>
          </a:solidFill>
          <a:ln cap="flat" cmpd="sng" w="20000">
            <a:solidFill>
              <a:srgbClr val="317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925" lIns="143925" spcFirstLastPara="1" rIns="143925" wrap="square" tIns="143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f74897ec9e_0_103"/>
          <p:cNvSpPr txBox="1"/>
          <p:nvPr>
            <p:ph idx="2" type="body"/>
          </p:nvPr>
        </p:nvSpPr>
        <p:spPr>
          <a:xfrm>
            <a:off x="5387500" y="2433025"/>
            <a:ext cx="9329100" cy="19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</a:pPr>
            <a:r>
              <a:rPr lang="es-ES" sz="3100"/>
              <a:t>Los datos para saber si la inversión</a:t>
            </a:r>
            <a:endParaRPr b="0" sz="3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</a:pPr>
            <a:r>
              <a:rPr lang="es-ES" sz="3100"/>
              <a:t>llega donde debe ya existían.</a:t>
            </a:r>
            <a:endParaRPr b="0" sz="3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</a:pPr>
            <a:r>
              <a:rPr lang="es-ES" sz="3100"/>
              <a:t>Lo nuevo es cruzarlos.</a:t>
            </a:r>
            <a:endParaRPr sz="6100"/>
          </a:p>
        </p:txBody>
      </p:sp>
      <p:sp>
        <p:nvSpPr>
          <p:cNvPr id="279" name="Google Shape;279;g3f74897ec9e_0_103"/>
          <p:cNvSpPr txBox="1"/>
          <p:nvPr>
            <p:ph idx="3" type="body"/>
          </p:nvPr>
        </p:nvSpPr>
        <p:spPr>
          <a:xfrm>
            <a:off x="5092767" y="7676832"/>
            <a:ext cx="1069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TerraFoco</a:t>
            </a:r>
            <a:endParaRPr/>
          </a:p>
        </p:txBody>
      </p:sp>
      <p:sp>
        <p:nvSpPr>
          <p:cNvPr id="280" name="Google Shape;280;g3f74897ec9e_0_103"/>
          <p:cNvSpPr/>
          <p:nvPr/>
        </p:nvSpPr>
        <p:spPr>
          <a:xfrm>
            <a:off x="5800140" y="4571998"/>
            <a:ext cx="850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8FA98F"/>
              </a:buClr>
              <a:buSzPts val="1600"/>
              <a:buFont typeface="Calibri"/>
              <a:buNone/>
            </a:pPr>
            <a:r>
              <a:rPr b="0" i="0" lang="es-ES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Necesidad e inversión en el mismo mapa, con datos públicos,</a:t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8FA98F"/>
              </a:buClr>
              <a:buSzPts val="1600"/>
              <a:buFont typeface="Calibri"/>
              <a:buNone/>
            </a:pPr>
            <a:r>
              <a:rPr b="0" i="0" lang="es-ES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 declarando dónde el modelo no es válido.</a:t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2021-04-02T01:36:00Z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2021-03-30T00:00:00Z</vt:filetime>
  </property>
  <property fmtid="{D5CDD505-2E9C-101B-9397-08002B2CF9AE}" pid="3" name="Creator">
    <vt:lpwstr>Adobe Illustrator 25.2 (Macintosh)</vt:lpwstr>
  </property>
  <property fmtid="{D5CDD505-2E9C-101B-9397-08002B2CF9AE}" pid="4" name="LastSaved">
    <vt:filetime>2021-04-02T00:00:00Z</vt:filetime>
  </property>
  <property fmtid="{D5CDD505-2E9C-101B-9397-08002B2CF9AE}" pid="5" name="ContentTypeId">
    <vt:lpwstr>0x0101004E9A3AE23414AD41A4F4D6368514CED2</vt:lpwstr>
  </property>
</Properties>
</file>